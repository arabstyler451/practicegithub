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83" r:id="rId7"/>
    <p:sldId id="261" r:id="rId8"/>
    <p:sldId id="263" r:id="rId9"/>
    <p:sldId id="271" r:id="rId10"/>
    <p:sldId id="270" r:id="rId11"/>
    <p:sldId id="264" r:id="rId12"/>
    <p:sldId id="265" r:id="rId13"/>
    <p:sldId id="266" r:id="rId14"/>
    <p:sldId id="267" r:id="rId15"/>
    <p:sldId id="268" r:id="rId16"/>
    <p:sldId id="272" r:id="rId17"/>
    <p:sldId id="273" r:id="rId18"/>
    <p:sldId id="274" r:id="rId19"/>
    <p:sldId id="275" r:id="rId20"/>
    <p:sldId id="279" r:id="rId21"/>
    <p:sldId id="278" r:id="rId22"/>
    <p:sldId id="277" r:id="rId23"/>
    <p:sldId id="280" r:id="rId24"/>
    <p:sldId id="282" r:id="rId2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9FBB1A-D33D-4E5C-AE32-DE2077995966}" v="1031" dt="2023-10-23T20:55:57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41CDC5-9495-4FCB-9A12-688198A9E65B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C9B4B5B-9CD6-4163-800D-B18879B879C6}">
      <dgm:prSet/>
      <dgm:spPr/>
      <dgm:t>
        <a:bodyPr/>
        <a:lstStyle/>
        <a:p>
          <a:r>
            <a:rPr lang="en-US"/>
            <a:t>Install</a:t>
          </a:r>
        </a:p>
      </dgm:t>
    </dgm:pt>
    <dgm:pt modelId="{4629631D-7539-4032-BADA-D373ACFD6431}" type="parTrans" cxnId="{013192E3-BA41-49F9-8755-9C31C9D6AB62}">
      <dgm:prSet/>
      <dgm:spPr/>
      <dgm:t>
        <a:bodyPr/>
        <a:lstStyle/>
        <a:p>
          <a:endParaRPr lang="en-US"/>
        </a:p>
      </dgm:t>
    </dgm:pt>
    <dgm:pt modelId="{6ABAEC32-1D42-4D36-9387-62D1FCE03936}" type="sibTrans" cxnId="{013192E3-BA41-49F9-8755-9C31C9D6AB62}">
      <dgm:prSet/>
      <dgm:spPr/>
      <dgm:t>
        <a:bodyPr/>
        <a:lstStyle/>
        <a:p>
          <a:endParaRPr lang="en-US"/>
        </a:p>
      </dgm:t>
    </dgm:pt>
    <dgm:pt modelId="{415DE23D-3A21-41BB-830A-40BA026B853E}">
      <dgm:prSet/>
      <dgm:spPr/>
      <dgm:t>
        <a:bodyPr/>
        <a:lstStyle/>
        <a:p>
          <a:r>
            <a:rPr lang="en-US"/>
            <a:t>Install-Package Microsoft.VisualStudio.Web.CodeGeneration.Design</a:t>
          </a:r>
        </a:p>
      </dgm:t>
    </dgm:pt>
    <dgm:pt modelId="{0EE50BF0-CC89-48B7-A3CC-F0052A7E350A}" type="parTrans" cxnId="{1A250654-9F16-475C-8FE8-F5467AC30176}">
      <dgm:prSet/>
      <dgm:spPr/>
      <dgm:t>
        <a:bodyPr/>
        <a:lstStyle/>
        <a:p>
          <a:endParaRPr lang="en-US"/>
        </a:p>
      </dgm:t>
    </dgm:pt>
    <dgm:pt modelId="{EB9ACB6C-D34D-4349-B021-32DA7206DED2}" type="sibTrans" cxnId="{1A250654-9F16-475C-8FE8-F5467AC30176}">
      <dgm:prSet/>
      <dgm:spPr/>
      <dgm:t>
        <a:bodyPr/>
        <a:lstStyle/>
        <a:p>
          <a:endParaRPr lang="en-US"/>
        </a:p>
      </dgm:t>
    </dgm:pt>
    <dgm:pt modelId="{F3F2C643-0DED-4E02-B659-AC7003A9C1C5}">
      <dgm:prSet/>
      <dgm:spPr/>
      <dgm:t>
        <a:bodyPr/>
        <a:lstStyle/>
        <a:p>
          <a:r>
            <a:rPr lang="en-US"/>
            <a:t>Install</a:t>
          </a:r>
        </a:p>
      </dgm:t>
    </dgm:pt>
    <dgm:pt modelId="{B006FABB-6B92-4E6A-A838-DFFE935145DA}" type="parTrans" cxnId="{65EB4C72-925F-4425-8135-DD0F6E54D727}">
      <dgm:prSet/>
      <dgm:spPr/>
      <dgm:t>
        <a:bodyPr/>
        <a:lstStyle/>
        <a:p>
          <a:endParaRPr lang="en-US"/>
        </a:p>
      </dgm:t>
    </dgm:pt>
    <dgm:pt modelId="{4ADA3D84-81BB-45A0-AC5A-C5EC8B15F34B}" type="sibTrans" cxnId="{65EB4C72-925F-4425-8135-DD0F6E54D727}">
      <dgm:prSet/>
      <dgm:spPr/>
      <dgm:t>
        <a:bodyPr/>
        <a:lstStyle/>
        <a:p>
          <a:endParaRPr lang="en-US"/>
        </a:p>
      </dgm:t>
    </dgm:pt>
    <dgm:pt modelId="{E6186B1E-BC5A-4FE7-BDAB-9D4B145A08D6}">
      <dgm:prSet/>
      <dgm:spPr/>
      <dgm:t>
        <a:bodyPr/>
        <a:lstStyle/>
        <a:p>
          <a:r>
            <a:rPr lang="en-US"/>
            <a:t>Install-Package Microsoft.EntityFrameworkCore.Design</a:t>
          </a:r>
        </a:p>
      </dgm:t>
    </dgm:pt>
    <dgm:pt modelId="{1D4DF534-BF2B-4885-84A2-7ED278A8F7C9}" type="parTrans" cxnId="{53B38867-9AE3-402A-9EB3-A4E3E71005A0}">
      <dgm:prSet/>
      <dgm:spPr/>
      <dgm:t>
        <a:bodyPr/>
        <a:lstStyle/>
        <a:p>
          <a:endParaRPr lang="en-US"/>
        </a:p>
      </dgm:t>
    </dgm:pt>
    <dgm:pt modelId="{4E478D29-192D-420F-9C94-DC1690AE03AE}" type="sibTrans" cxnId="{53B38867-9AE3-402A-9EB3-A4E3E71005A0}">
      <dgm:prSet/>
      <dgm:spPr/>
      <dgm:t>
        <a:bodyPr/>
        <a:lstStyle/>
        <a:p>
          <a:endParaRPr lang="en-US"/>
        </a:p>
      </dgm:t>
    </dgm:pt>
    <dgm:pt modelId="{92BBD6FD-8E39-46DF-A911-5BF69DAE6A3D}">
      <dgm:prSet/>
      <dgm:spPr/>
      <dgm:t>
        <a:bodyPr/>
        <a:lstStyle/>
        <a:p>
          <a:r>
            <a:rPr lang="en-US"/>
            <a:t>Install</a:t>
          </a:r>
        </a:p>
      </dgm:t>
    </dgm:pt>
    <dgm:pt modelId="{8618B612-91AA-4A52-9874-89ADC1D90016}" type="parTrans" cxnId="{10A074FF-816D-4478-9B5E-C26239FDC869}">
      <dgm:prSet/>
      <dgm:spPr/>
      <dgm:t>
        <a:bodyPr/>
        <a:lstStyle/>
        <a:p>
          <a:endParaRPr lang="en-US"/>
        </a:p>
      </dgm:t>
    </dgm:pt>
    <dgm:pt modelId="{A8FFC0E3-F0CD-4E7E-95AC-CB33E621EB21}" type="sibTrans" cxnId="{10A074FF-816D-4478-9B5E-C26239FDC869}">
      <dgm:prSet/>
      <dgm:spPr/>
      <dgm:t>
        <a:bodyPr/>
        <a:lstStyle/>
        <a:p>
          <a:endParaRPr lang="en-US"/>
        </a:p>
      </dgm:t>
    </dgm:pt>
    <dgm:pt modelId="{ADDF76A3-0AA6-4DCE-AFA1-75E972FA04D5}">
      <dgm:prSet/>
      <dgm:spPr/>
      <dgm:t>
        <a:bodyPr/>
        <a:lstStyle/>
        <a:p>
          <a:r>
            <a:rPr lang="en-US"/>
            <a:t>Install-Package Microsoft.EntityFrameworkCore.SqlServer</a:t>
          </a:r>
        </a:p>
      </dgm:t>
    </dgm:pt>
    <dgm:pt modelId="{F19EA46E-E9BF-4D59-A272-CB60ABA584C6}" type="parTrans" cxnId="{5A40E21F-B8BE-42B1-8A88-4E9CAD84C472}">
      <dgm:prSet/>
      <dgm:spPr/>
      <dgm:t>
        <a:bodyPr/>
        <a:lstStyle/>
        <a:p>
          <a:endParaRPr lang="en-US"/>
        </a:p>
      </dgm:t>
    </dgm:pt>
    <dgm:pt modelId="{FC3CA943-FE6A-4B54-A265-6E8C9D3B6628}" type="sibTrans" cxnId="{5A40E21F-B8BE-42B1-8A88-4E9CAD84C472}">
      <dgm:prSet/>
      <dgm:spPr/>
      <dgm:t>
        <a:bodyPr/>
        <a:lstStyle/>
        <a:p>
          <a:endParaRPr lang="en-US"/>
        </a:p>
      </dgm:t>
    </dgm:pt>
    <dgm:pt modelId="{8277A735-3470-462B-9AB4-BFB75668D257}" type="pres">
      <dgm:prSet presAssocID="{CE41CDC5-9495-4FCB-9A12-688198A9E65B}" presName="Name0" presStyleCnt="0">
        <dgm:presLayoutVars>
          <dgm:dir/>
          <dgm:animLvl val="lvl"/>
          <dgm:resizeHandles val="exact"/>
        </dgm:presLayoutVars>
      </dgm:prSet>
      <dgm:spPr/>
    </dgm:pt>
    <dgm:pt modelId="{26457729-2813-4C26-903F-BFF6CA1644C7}" type="pres">
      <dgm:prSet presAssocID="{92BBD6FD-8E39-46DF-A911-5BF69DAE6A3D}" presName="boxAndChildren" presStyleCnt="0"/>
      <dgm:spPr/>
    </dgm:pt>
    <dgm:pt modelId="{7F66D748-94CE-477B-8790-CD2C70E01AC4}" type="pres">
      <dgm:prSet presAssocID="{92BBD6FD-8E39-46DF-A911-5BF69DAE6A3D}" presName="parentTextBox" presStyleLbl="alignNode1" presStyleIdx="0" presStyleCnt="3"/>
      <dgm:spPr/>
    </dgm:pt>
    <dgm:pt modelId="{1AD7378F-E330-4925-BDE0-D9025CEF0701}" type="pres">
      <dgm:prSet presAssocID="{92BBD6FD-8E39-46DF-A911-5BF69DAE6A3D}" presName="descendantBox" presStyleLbl="bgAccFollowNode1" presStyleIdx="0" presStyleCnt="3"/>
      <dgm:spPr/>
    </dgm:pt>
    <dgm:pt modelId="{115D2CC3-A5F4-4A04-B546-7D5BF0C8CA6A}" type="pres">
      <dgm:prSet presAssocID="{4ADA3D84-81BB-45A0-AC5A-C5EC8B15F34B}" presName="sp" presStyleCnt="0"/>
      <dgm:spPr/>
    </dgm:pt>
    <dgm:pt modelId="{7BEF33D9-D7E2-44BC-BFF7-9F7BB9D16642}" type="pres">
      <dgm:prSet presAssocID="{F3F2C643-0DED-4E02-B659-AC7003A9C1C5}" presName="arrowAndChildren" presStyleCnt="0"/>
      <dgm:spPr/>
    </dgm:pt>
    <dgm:pt modelId="{2988B972-4B0D-49EF-85E8-C51AD02FFA81}" type="pres">
      <dgm:prSet presAssocID="{F3F2C643-0DED-4E02-B659-AC7003A9C1C5}" presName="parentTextArrow" presStyleLbl="node1" presStyleIdx="0" presStyleCnt="0"/>
      <dgm:spPr/>
    </dgm:pt>
    <dgm:pt modelId="{C94874D8-7831-4F27-8278-CF22AD721FDD}" type="pres">
      <dgm:prSet presAssocID="{F3F2C643-0DED-4E02-B659-AC7003A9C1C5}" presName="arrow" presStyleLbl="alignNode1" presStyleIdx="1" presStyleCnt="3"/>
      <dgm:spPr/>
    </dgm:pt>
    <dgm:pt modelId="{82FC942D-3D43-44F5-B80B-9E4A349A4340}" type="pres">
      <dgm:prSet presAssocID="{F3F2C643-0DED-4E02-B659-AC7003A9C1C5}" presName="descendantArrow" presStyleLbl="bgAccFollowNode1" presStyleIdx="1" presStyleCnt="3"/>
      <dgm:spPr/>
    </dgm:pt>
    <dgm:pt modelId="{51EBFE59-0128-478E-8F76-63AEB32BC670}" type="pres">
      <dgm:prSet presAssocID="{6ABAEC32-1D42-4D36-9387-62D1FCE03936}" presName="sp" presStyleCnt="0"/>
      <dgm:spPr/>
    </dgm:pt>
    <dgm:pt modelId="{57A19419-E185-443E-A3DF-D83C731915CC}" type="pres">
      <dgm:prSet presAssocID="{5C9B4B5B-9CD6-4163-800D-B18879B879C6}" presName="arrowAndChildren" presStyleCnt="0"/>
      <dgm:spPr/>
    </dgm:pt>
    <dgm:pt modelId="{F9615C0E-110A-48D3-B4C6-4A8B5995A06C}" type="pres">
      <dgm:prSet presAssocID="{5C9B4B5B-9CD6-4163-800D-B18879B879C6}" presName="parentTextArrow" presStyleLbl="node1" presStyleIdx="0" presStyleCnt="0"/>
      <dgm:spPr/>
    </dgm:pt>
    <dgm:pt modelId="{908CA42F-3871-4689-B03F-0964E87E3902}" type="pres">
      <dgm:prSet presAssocID="{5C9B4B5B-9CD6-4163-800D-B18879B879C6}" presName="arrow" presStyleLbl="alignNode1" presStyleIdx="2" presStyleCnt="3"/>
      <dgm:spPr/>
    </dgm:pt>
    <dgm:pt modelId="{C4183DAD-C35E-481F-97E3-B467C250D781}" type="pres">
      <dgm:prSet presAssocID="{5C9B4B5B-9CD6-4163-800D-B18879B879C6}" presName="descendantArrow" presStyleLbl="bgAccFollowNode1" presStyleIdx="2" presStyleCnt="3"/>
      <dgm:spPr/>
    </dgm:pt>
  </dgm:ptLst>
  <dgm:cxnLst>
    <dgm:cxn modelId="{5A40E21F-B8BE-42B1-8A88-4E9CAD84C472}" srcId="{92BBD6FD-8E39-46DF-A911-5BF69DAE6A3D}" destId="{ADDF76A3-0AA6-4DCE-AFA1-75E972FA04D5}" srcOrd="0" destOrd="0" parTransId="{F19EA46E-E9BF-4D59-A272-CB60ABA584C6}" sibTransId="{FC3CA943-FE6A-4B54-A265-6E8C9D3B6628}"/>
    <dgm:cxn modelId="{3998DC23-8C9E-4241-92E6-309C8E6F9AA4}" type="presOf" srcId="{E6186B1E-BC5A-4FE7-BDAB-9D4B145A08D6}" destId="{82FC942D-3D43-44F5-B80B-9E4A349A4340}" srcOrd="0" destOrd="0" presId="urn:microsoft.com/office/officeart/2016/7/layout/VerticalDownArrowProcess"/>
    <dgm:cxn modelId="{B318F243-9398-454B-948D-202082D5652C}" type="presOf" srcId="{ADDF76A3-0AA6-4DCE-AFA1-75E972FA04D5}" destId="{1AD7378F-E330-4925-BDE0-D9025CEF0701}" srcOrd="0" destOrd="0" presId="urn:microsoft.com/office/officeart/2016/7/layout/VerticalDownArrowProcess"/>
    <dgm:cxn modelId="{53B38867-9AE3-402A-9EB3-A4E3E71005A0}" srcId="{F3F2C643-0DED-4E02-B659-AC7003A9C1C5}" destId="{E6186B1E-BC5A-4FE7-BDAB-9D4B145A08D6}" srcOrd="0" destOrd="0" parTransId="{1D4DF534-BF2B-4885-84A2-7ED278A8F7C9}" sibTransId="{4E478D29-192D-420F-9C94-DC1690AE03AE}"/>
    <dgm:cxn modelId="{65EB4C72-925F-4425-8135-DD0F6E54D727}" srcId="{CE41CDC5-9495-4FCB-9A12-688198A9E65B}" destId="{F3F2C643-0DED-4E02-B659-AC7003A9C1C5}" srcOrd="1" destOrd="0" parTransId="{B006FABB-6B92-4E6A-A838-DFFE935145DA}" sibTransId="{4ADA3D84-81BB-45A0-AC5A-C5EC8B15F34B}"/>
    <dgm:cxn modelId="{1A250654-9F16-475C-8FE8-F5467AC30176}" srcId="{5C9B4B5B-9CD6-4163-800D-B18879B879C6}" destId="{415DE23D-3A21-41BB-830A-40BA026B853E}" srcOrd="0" destOrd="0" parTransId="{0EE50BF0-CC89-48B7-A3CC-F0052A7E350A}" sibTransId="{EB9ACB6C-D34D-4349-B021-32DA7206DED2}"/>
    <dgm:cxn modelId="{BB095759-2BF1-4EB1-B322-BE5343F0C6D2}" type="presOf" srcId="{5C9B4B5B-9CD6-4163-800D-B18879B879C6}" destId="{F9615C0E-110A-48D3-B4C6-4A8B5995A06C}" srcOrd="0" destOrd="0" presId="urn:microsoft.com/office/officeart/2016/7/layout/VerticalDownArrowProcess"/>
    <dgm:cxn modelId="{E13D45A8-EE87-4316-A83D-4E67B060BF25}" type="presOf" srcId="{CE41CDC5-9495-4FCB-9A12-688198A9E65B}" destId="{8277A735-3470-462B-9AB4-BFB75668D257}" srcOrd="0" destOrd="0" presId="urn:microsoft.com/office/officeart/2016/7/layout/VerticalDownArrowProcess"/>
    <dgm:cxn modelId="{CBA6F8D5-6B88-4251-BE72-F3EF1D9E778D}" type="presOf" srcId="{F3F2C643-0DED-4E02-B659-AC7003A9C1C5}" destId="{C94874D8-7831-4F27-8278-CF22AD721FDD}" srcOrd="1" destOrd="0" presId="urn:microsoft.com/office/officeart/2016/7/layout/VerticalDownArrowProcess"/>
    <dgm:cxn modelId="{013192E3-BA41-49F9-8755-9C31C9D6AB62}" srcId="{CE41CDC5-9495-4FCB-9A12-688198A9E65B}" destId="{5C9B4B5B-9CD6-4163-800D-B18879B879C6}" srcOrd="0" destOrd="0" parTransId="{4629631D-7539-4032-BADA-D373ACFD6431}" sibTransId="{6ABAEC32-1D42-4D36-9387-62D1FCE03936}"/>
    <dgm:cxn modelId="{239484E4-6E04-4BF1-89B0-112BE6E15AA9}" type="presOf" srcId="{92BBD6FD-8E39-46DF-A911-5BF69DAE6A3D}" destId="{7F66D748-94CE-477B-8790-CD2C70E01AC4}" srcOrd="0" destOrd="0" presId="urn:microsoft.com/office/officeart/2016/7/layout/VerticalDownArrowProcess"/>
    <dgm:cxn modelId="{0086C8EF-8A91-4DC7-8F07-FF4D6ECFECAF}" type="presOf" srcId="{415DE23D-3A21-41BB-830A-40BA026B853E}" destId="{C4183DAD-C35E-481F-97E3-B467C250D781}" srcOrd="0" destOrd="0" presId="urn:microsoft.com/office/officeart/2016/7/layout/VerticalDownArrowProcess"/>
    <dgm:cxn modelId="{CE3EE0F1-E778-4439-AD0F-13AA83C5F832}" type="presOf" srcId="{F3F2C643-0DED-4E02-B659-AC7003A9C1C5}" destId="{2988B972-4B0D-49EF-85E8-C51AD02FFA81}" srcOrd="0" destOrd="0" presId="urn:microsoft.com/office/officeart/2016/7/layout/VerticalDownArrowProcess"/>
    <dgm:cxn modelId="{B6136FFB-586A-4697-9A06-D8B9E3FE59C3}" type="presOf" srcId="{5C9B4B5B-9CD6-4163-800D-B18879B879C6}" destId="{908CA42F-3871-4689-B03F-0964E87E3902}" srcOrd="1" destOrd="0" presId="urn:microsoft.com/office/officeart/2016/7/layout/VerticalDownArrowProcess"/>
    <dgm:cxn modelId="{10A074FF-816D-4478-9B5E-C26239FDC869}" srcId="{CE41CDC5-9495-4FCB-9A12-688198A9E65B}" destId="{92BBD6FD-8E39-46DF-A911-5BF69DAE6A3D}" srcOrd="2" destOrd="0" parTransId="{8618B612-91AA-4A52-9874-89ADC1D90016}" sibTransId="{A8FFC0E3-F0CD-4E7E-95AC-CB33E621EB21}"/>
    <dgm:cxn modelId="{50B6E480-0749-4993-AA6B-DD72057A582A}" type="presParOf" srcId="{8277A735-3470-462B-9AB4-BFB75668D257}" destId="{26457729-2813-4C26-903F-BFF6CA1644C7}" srcOrd="0" destOrd="0" presId="urn:microsoft.com/office/officeart/2016/7/layout/VerticalDownArrowProcess"/>
    <dgm:cxn modelId="{E2531B1D-353E-4221-9BE5-3E28B7000E1F}" type="presParOf" srcId="{26457729-2813-4C26-903F-BFF6CA1644C7}" destId="{7F66D748-94CE-477B-8790-CD2C70E01AC4}" srcOrd="0" destOrd="0" presId="urn:microsoft.com/office/officeart/2016/7/layout/VerticalDownArrowProcess"/>
    <dgm:cxn modelId="{BA6EF2D3-2560-4A0C-B3B6-C41E21DC2250}" type="presParOf" srcId="{26457729-2813-4C26-903F-BFF6CA1644C7}" destId="{1AD7378F-E330-4925-BDE0-D9025CEF0701}" srcOrd="1" destOrd="0" presId="urn:microsoft.com/office/officeart/2016/7/layout/VerticalDownArrowProcess"/>
    <dgm:cxn modelId="{99BB6FD0-43E1-42E7-AAF7-839F4DFF1E16}" type="presParOf" srcId="{8277A735-3470-462B-9AB4-BFB75668D257}" destId="{115D2CC3-A5F4-4A04-B546-7D5BF0C8CA6A}" srcOrd="1" destOrd="0" presId="urn:microsoft.com/office/officeart/2016/7/layout/VerticalDownArrowProcess"/>
    <dgm:cxn modelId="{68150476-EE91-4BE6-80F9-15326537F931}" type="presParOf" srcId="{8277A735-3470-462B-9AB4-BFB75668D257}" destId="{7BEF33D9-D7E2-44BC-BFF7-9F7BB9D16642}" srcOrd="2" destOrd="0" presId="urn:microsoft.com/office/officeart/2016/7/layout/VerticalDownArrowProcess"/>
    <dgm:cxn modelId="{C1906074-7729-4E51-B630-63144CEA0020}" type="presParOf" srcId="{7BEF33D9-D7E2-44BC-BFF7-9F7BB9D16642}" destId="{2988B972-4B0D-49EF-85E8-C51AD02FFA81}" srcOrd="0" destOrd="0" presId="urn:microsoft.com/office/officeart/2016/7/layout/VerticalDownArrowProcess"/>
    <dgm:cxn modelId="{8A5782C5-2FCE-415B-B370-B773EF94341D}" type="presParOf" srcId="{7BEF33D9-D7E2-44BC-BFF7-9F7BB9D16642}" destId="{C94874D8-7831-4F27-8278-CF22AD721FDD}" srcOrd="1" destOrd="0" presId="urn:microsoft.com/office/officeart/2016/7/layout/VerticalDownArrowProcess"/>
    <dgm:cxn modelId="{695FDDFE-2037-4D8A-82E9-9B3B0E5310C1}" type="presParOf" srcId="{7BEF33D9-D7E2-44BC-BFF7-9F7BB9D16642}" destId="{82FC942D-3D43-44F5-B80B-9E4A349A4340}" srcOrd="2" destOrd="0" presId="urn:microsoft.com/office/officeart/2016/7/layout/VerticalDownArrowProcess"/>
    <dgm:cxn modelId="{417A9A9A-E9F4-4E97-AC21-B10F861C1FCB}" type="presParOf" srcId="{8277A735-3470-462B-9AB4-BFB75668D257}" destId="{51EBFE59-0128-478E-8F76-63AEB32BC670}" srcOrd="3" destOrd="0" presId="urn:microsoft.com/office/officeart/2016/7/layout/VerticalDownArrowProcess"/>
    <dgm:cxn modelId="{2BEB4E43-F2D0-476E-9214-F27C7D226B4A}" type="presParOf" srcId="{8277A735-3470-462B-9AB4-BFB75668D257}" destId="{57A19419-E185-443E-A3DF-D83C731915CC}" srcOrd="4" destOrd="0" presId="urn:microsoft.com/office/officeart/2016/7/layout/VerticalDownArrowProcess"/>
    <dgm:cxn modelId="{BB617207-6968-4BB8-880E-4C4F968EE87B}" type="presParOf" srcId="{57A19419-E185-443E-A3DF-D83C731915CC}" destId="{F9615C0E-110A-48D3-B4C6-4A8B5995A06C}" srcOrd="0" destOrd="0" presId="urn:microsoft.com/office/officeart/2016/7/layout/VerticalDownArrowProcess"/>
    <dgm:cxn modelId="{14E59F38-1BC1-4F5A-868D-32A54305547D}" type="presParOf" srcId="{57A19419-E185-443E-A3DF-D83C731915CC}" destId="{908CA42F-3871-4689-B03F-0964E87E3902}" srcOrd="1" destOrd="0" presId="urn:microsoft.com/office/officeart/2016/7/layout/VerticalDownArrowProcess"/>
    <dgm:cxn modelId="{427E6FF6-D392-4C65-AFF9-763EE26BFB8B}" type="presParOf" srcId="{57A19419-E185-443E-A3DF-D83C731915CC}" destId="{C4183DAD-C35E-481F-97E3-B467C250D78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66D748-94CE-477B-8790-CD2C70E01AC4}">
      <dsp:nvSpPr>
        <dsp:cNvPr id="0" name=""/>
        <dsp:cNvSpPr/>
      </dsp:nvSpPr>
      <dsp:spPr>
        <a:xfrm>
          <a:off x="0" y="4167346"/>
          <a:ext cx="1725128" cy="136781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256032" rIns="122691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Install</a:t>
          </a:r>
        </a:p>
      </dsp:txBody>
      <dsp:txXfrm>
        <a:off x="0" y="4167346"/>
        <a:ext cx="1725128" cy="1367816"/>
      </dsp:txXfrm>
    </dsp:sp>
    <dsp:sp modelId="{1AD7378F-E330-4925-BDE0-D9025CEF0701}">
      <dsp:nvSpPr>
        <dsp:cNvPr id="0" name=""/>
        <dsp:cNvSpPr/>
      </dsp:nvSpPr>
      <dsp:spPr>
        <a:xfrm>
          <a:off x="1725128" y="4167346"/>
          <a:ext cx="5175384" cy="136781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28600" rIns="104981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Install-Package Microsoft.EntityFrameworkCore.SqlServer</a:t>
          </a:r>
        </a:p>
      </dsp:txBody>
      <dsp:txXfrm>
        <a:off x="1725128" y="4167346"/>
        <a:ext cx="5175384" cy="1367816"/>
      </dsp:txXfrm>
    </dsp:sp>
    <dsp:sp modelId="{C94874D8-7831-4F27-8278-CF22AD721FDD}">
      <dsp:nvSpPr>
        <dsp:cNvPr id="0" name=""/>
        <dsp:cNvSpPr/>
      </dsp:nvSpPr>
      <dsp:spPr>
        <a:xfrm rot="10800000">
          <a:off x="0" y="2084162"/>
          <a:ext cx="1725128" cy="210370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256032" rIns="122691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Install</a:t>
          </a:r>
        </a:p>
      </dsp:txBody>
      <dsp:txXfrm rot="-10800000">
        <a:off x="0" y="2084162"/>
        <a:ext cx="1725128" cy="1367405"/>
      </dsp:txXfrm>
    </dsp:sp>
    <dsp:sp modelId="{82FC942D-3D43-44F5-B80B-9E4A349A4340}">
      <dsp:nvSpPr>
        <dsp:cNvPr id="0" name=""/>
        <dsp:cNvSpPr/>
      </dsp:nvSpPr>
      <dsp:spPr>
        <a:xfrm>
          <a:off x="1725128" y="2084162"/>
          <a:ext cx="5175384" cy="1367405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28600" rIns="104981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Install-Package Microsoft.EntityFrameworkCore.Design</a:t>
          </a:r>
        </a:p>
      </dsp:txBody>
      <dsp:txXfrm>
        <a:off x="1725128" y="2084162"/>
        <a:ext cx="5175384" cy="1367405"/>
      </dsp:txXfrm>
    </dsp:sp>
    <dsp:sp modelId="{908CA42F-3871-4689-B03F-0964E87E3902}">
      <dsp:nvSpPr>
        <dsp:cNvPr id="0" name=""/>
        <dsp:cNvSpPr/>
      </dsp:nvSpPr>
      <dsp:spPr>
        <a:xfrm rot="10800000">
          <a:off x="0" y="978"/>
          <a:ext cx="1725128" cy="210370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256032" rIns="122691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Install</a:t>
          </a:r>
        </a:p>
      </dsp:txBody>
      <dsp:txXfrm rot="-10800000">
        <a:off x="0" y="978"/>
        <a:ext cx="1725128" cy="1367405"/>
      </dsp:txXfrm>
    </dsp:sp>
    <dsp:sp modelId="{C4183DAD-C35E-481F-97E3-B467C250D781}">
      <dsp:nvSpPr>
        <dsp:cNvPr id="0" name=""/>
        <dsp:cNvSpPr/>
      </dsp:nvSpPr>
      <dsp:spPr>
        <a:xfrm>
          <a:off x="1725128" y="978"/>
          <a:ext cx="5175384" cy="1367405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28600" rIns="104981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Install-Package Microsoft.VisualStudio.Web.CodeGeneration.Design</a:t>
          </a:r>
        </a:p>
      </dsp:txBody>
      <dsp:txXfrm>
        <a:off x="1725128" y="978"/>
        <a:ext cx="5175384" cy="1367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4C9E24-F67B-49D0-8336-BF12B3639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135FB8-81BC-449C-B26D-29BE2D6C2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22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2568" y="1229196"/>
            <a:ext cx="10273850" cy="2677175"/>
          </a:xfrm>
        </p:spPr>
        <p:txBody>
          <a:bodyPr anchor="b">
            <a:normAutofit/>
          </a:bodyPr>
          <a:lstStyle/>
          <a:p>
            <a:pPr algn="l"/>
            <a:r>
              <a:rPr lang="en-GB" sz="8000">
                <a:solidFill>
                  <a:schemeClr val="tx2"/>
                </a:solidFill>
                <a:cs typeface="Calibri Light"/>
              </a:rPr>
              <a:t>Using Models</a:t>
            </a:r>
            <a:endParaRPr lang="en-GB" sz="800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273851" cy="19498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 sz="2200">
                <a:solidFill>
                  <a:schemeClr val="tx2"/>
                </a:solidFill>
                <a:cs typeface="Calibri"/>
              </a:rPr>
              <a:t>Muhammed</a:t>
            </a:r>
            <a:endParaRPr lang="en-GB" sz="2200">
              <a:solidFill>
                <a:schemeClr val="tx2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1AD776D-FBA4-4C44-9778-05D5F0CC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34BE9E8-A53B-4090-9C17-EB62E1FEC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E0722C-3D21-4088-883B-5FD8091B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110841-BFDD-476D-9A44-3AC7C0E01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5493FDB-F2C3-4517-9FC6-6668C2174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3623F37-A8C4-480F-BCB1-CF9E49F0C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A3E6C2-0820-41EE-816A-5D9A9CB33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32712" cy="685799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A1D3E-AD28-67F3-5283-55611537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1170431"/>
            <a:ext cx="4875904" cy="5138923"/>
          </a:xfrm>
        </p:spPr>
        <p:txBody>
          <a:bodyPr anchor="ctr">
            <a:normAutofit/>
          </a:bodyPr>
          <a:lstStyle/>
          <a:p>
            <a:r>
              <a:rPr lang="en-GB" sz="5400">
                <a:solidFill>
                  <a:schemeClr val="tx2"/>
                </a:solidFill>
                <a:cs typeface="Calibri Light"/>
              </a:rPr>
              <a:t>Learning Aims and Outcomes</a:t>
            </a:r>
            <a:endParaRPr lang="en-GB" sz="5400">
              <a:solidFill>
                <a:schemeClr val="tx2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2CF87F1-3B54-482D-A798-9F4A99449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BD60A-623E-90B3-2C7D-CA534B4F2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5441" y="1170432"/>
            <a:ext cx="5002187" cy="5138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 b="1" dirty="0">
                <a:solidFill>
                  <a:schemeClr val="tx2"/>
                </a:solidFill>
                <a:cs typeface="Calibri"/>
              </a:rPr>
              <a:t>Learning Aim</a:t>
            </a:r>
            <a:r>
              <a:rPr lang="en-GB" sz="1800" dirty="0">
                <a:solidFill>
                  <a:schemeClr val="tx2"/>
                </a:solidFill>
                <a:cs typeface="Calibri"/>
              </a:rPr>
              <a:t>: To begin to understand how to use models and link them to your views</a:t>
            </a:r>
          </a:p>
          <a:p>
            <a:endParaRPr lang="en-GB" sz="1800">
              <a:solidFill>
                <a:schemeClr val="tx2"/>
              </a:solidFill>
              <a:cs typeface="Calibri"/>
            </a:endParaRPr>
          </a:p>
          <a:p>
            <a:r>
              <a:rPr lang="en-GB" sz="1800" b="1" dirty="0">
                <a:solidFill>
                  <a:schemeClr val="tx2"/>
                </a:solidFill>
                <a:cs typeface="Calibri"/>
              </a:rPr>
              <a:t>Learning Outcomes</a:t>
            </a:r>
            <a:r>
              <a:rPr lang="en-GB" sz="1800" dirty="0">
                <a:solidFill>
                  <a:schemeClr val="tx2"/>
                </a:solidFill>
                <a:cs typeface="Calibri"/>
              </a:rPr>
              <a:t>:</a:t>
            </a:r>
          </a:p>
          <a:p>
            <a:pPr lvl="1"/>
            <a:r>
              <a:rPr lang="en-GB" sz="1800" dirty="0">
                <a:solidFill>
                  <a:schemeClr val="tx2"/>
                </a:solidFill>
                <a:cs typeface="Calibri"/>
              </a:rPr>
              <a:t>To be able to create models in Visual Studio 2022</a:t>
            </a:r>
          </a:p>
          <a:p>
            <a:pPr lvl="1"/>
            <a:r>
              <a:rPr lang="en-GB" sz="1800" dirty="0">
                <a:solidFill>
                  <a:schemeClr val="tx2"/>
                </a:solidFill>
                <a:cs typeface="Calibri"/>
              </a:rPr>
              <a:t>To be able to use migrations to establish a database</a:t>
            </a:r>
          </a:p>
          <a:p>
            <a:pPr lvl="1"/>
            <a:r>
              <a:rPr lang="en-GB" sz="1800" dirty="0">
                <a:solidFill>
                  <a:schemeClr val="tx2"/>
                </a:solidFill>
                <a:cs typeface="Calibri"/>
              </a:rPr>
              <a:t>To be able to scaffold views and controllers in Visual Studio 2022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994C9B-C550-4E20-89C5-83F12CB5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16AE491-4898-437E-9E32-86A2F1920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7F55C76-861C-49BA-925A-099CA0118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494BE9A-C1C3-41FE-B2E9-6DBE5EBA2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7370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623F37-A8C4-480F-BCB1-CF9E49F0C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A3E6C2-0820-41EE-816A-5D9A9CB33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32712" cy="685799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C2805-0B50-B257-3533-0610B9E5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1170431"/>
            <a:ext cx="4875904" cy="5138923"/>
          </a:xfrm>
        </p:spPr>
        <p:txBody>
          <a:bodyPr anchor="ctr">
            <a:normAutofit/>
          </a:bodyPr>
          <a:lstStyle/>
          <a:p>
            <a:r>
              <a:rPr lang="en-GB" sz="5400">
                <a:solidFill>
                  <a:schemeClr val="tx2"/>
                </a:solidFill>
                <a:cs typeface="Calibri Light"/>
              </a:rPr>
              <a:t>Starter</a:t>
            </a:r>
            <a:endParaRPr lang="en-GB" sz="5400">
              <a:solidFill>
                <a:schemeClr val="tx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CF87F1-3B54-482D-A798-9F4A99449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16EFA-31D1-34FB-D10D-7175B8682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5441" y="1170432"/>
            <a:ext cx="5002187" cy="5138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200" dirty="0">
                <a:solidFill>
                  <a:schemeClr val="tx2"/>
                </a:solidFill>
                <a:cs typeface="Calibri"/>
              </a:rPr>
              <a:t>Create a new web application project called – </a:t>
            </a:r>
            <a:r>
              <a:rPr lang="en-GB" sz="3200" err="1">
                <a:solidFill>
                  <a:schemeClr val="tx2"/>
                </a:solidFill>
                <a:cs typeface="Calibri"/>
              </a:rPr>
              <a:t>MVCMovies</a:t>
            </a:r>
            <a:endParaRPr lang="en-GB" sz="3200">
              <a:solidFill>
                <a:schemeClr val="tx2"/>
              </a:solidFill>
              <a:cs typeface="Calibri"/>
            </a:endParaRPr>
          </a:p>
          <a:p>
            <a:endParaRPr lang="en-GB" sz="3200" dirty="0">
              <a:solidFill>
                <a:schemeClr val="tx2"/>
              </a:solidFill>
              <a:cs typeface="Calibri"/>
            </a:endParaRPr>
          </a:p>
          <a:p>
            <a:r>
              <a:rPr lang="en-GB" sz="3200" dirty="0">
                <a:solidFill>
                  <a:schemeClr val="tx2"/>
                </a:solidFill>
                <a:cs typeface="Calibri"/>
              </a:rPr>
              <a:t>Make sure to setup the project correctly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994C9B-C550-4E20-89C5-83F12CB5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6AE491-4898-437E-9E32-86A2F1920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7F55C76-861C-49BA-925A-099CA0118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494BE9A-C1C3-41FE-B2E9-6DBE5EBA2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2968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7D7C94-41C0-4614-8A18-941174D4D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42A6E-B8AB-4B90-6D26-E9766C1A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68" y="1238032"/>
            <a:ext cx="9611581" cy="2558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Creating a New Model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F6FBC1-6409-4059-B87B-1BE513242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A98E26-C7DC-48E3-8F50-FBF7F3C50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B3D45F-509E-43F3-B685-A5E78AD0D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53B0F8-0414-437D-87C2-23F48DF9C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B56551-40C7-4552-A11A-6D86B7EB08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6582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lowchart: Document 3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655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C818D-2CD9-FB83-58EB-0BA424EC5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Right Click Models Folder -&gt; Add-&gt; Class -&gt; Movie.cs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7E13E5AB-FCB7-7BB2-658A-98EFCB655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601" b="-427"/>
          <a:stretch/>
        </p:blipFill>
        <p:spPr>
          <a:xfrm>
            <a:off x="5242623" y="640080"/>
            <a:ext cx="5278157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4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6C9C1BE-13EA-12A1-1329-DB0370EF1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3542"/>
          <a:stretch/>
        </p:blipFill>
        <p:spPr>
          <a:xfrm>
            <a:off x="1940784" y="643467"/>
            <a:ext cx="8310432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5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2A2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9262A-D15E-C8B0-7B3E-FAFD9452C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Now we need to create the model</a:t>
            </a:r>
          </a:p>
        </p:txBody>
      </p:sp>
      <p:pic>
        <p:nvPicPr>
          <p:cNvPr id="4" name="Content Placeholder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1EBFB269-2D94-9183-A706-89882E746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9115" y="640080"/>
            <a:ext cx="6845173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6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A0946-2269-B80C-9ADC-B74FF60C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>
                <a:cs typeface="Calibri Light"/>
              </a:rPr>
              <a:t>Scaffolding</a:t>
            </a:r>
            <a:endParaRPr lang="en-GB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3CC81-FB41-AB10-0074-9BF2EA847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dirty="0">
                <a:cs typeface="Calibri"/>
              </a:rPr>
              <a:t>CRUD </a:t>
            </a:r>
          </a:p>
          <a:p>
            <a:pPr marL="0" indent="0">
              <a:buNone/>
            </a:pPr>
            <a:endParaRPr lang="en-GB" sz="4000" dirty="0">
              <a:cs typeface="Calibri"/>
            </a:endParaRPr>
          </a:p>
          <a:p>
            <a:r>
              <a:rPr lang="en-GB" sz="4000" b="1" dirty="0">
                <a:cs typeface="Calibri"/>
              </a:rPr>
              <a:t>C</a:t>
            </a:r>
            <a:r>
              <a:rPr lang="en-GB" sz="4000" dirty="0">
                <a:cs typeface="Calibri"/>
              </a:rPr>
              <a:t>reate</a:t>
            </a:r>
          </a:p>
          <a:p>
            <a:r>
              <a:rPr lang="en-GB" sz="4000" b="1" dirty="0">
                <a:cs typeface="Calibri"/>
              </a:rPr>
              <a:t>R</a:t>
            </a:r>
            <a:r>
              <a:rPr lang="en-GB" sz="4000" dirty="0">
                <a:cs typeface="Calibri"/>
              </a:rPr>
              <a:t>ead</a:t>
            </a:r>
          </a:p>
          <a:p>
            <a:r>
              <a:rPr lang="en-GB" sz="4000" b="1" dirty="0">
                <a:cs typeface="Calibri"/>
              </a:rPr>
              <a:t>U</a:t>
            </a:r>
            <a:r>
              <a:rPr lang="en-GB" sz="4000" dirty="0">
                <a:cs typeface="Calibri"/>
              </a:rPr>
              <a:t>pdate</a:t>
            </a:r>
          </a:p>
          <a:p>
            <a:r>
              <a:rPr lang="en-GB" sz="4000" b="1" dirty="0">
                <a:cs typeface="Calibri"/>
              </a:rPr>
              <a:t>D</a:t>
            </a:r>
            <a:r>
              <a:rPr lang="en-GB" sz="4000" dirty="0">
                <a:cs typeface="Calibri"/>
              </a:rPr>
              <a:t>elete</a:t>
            </a:r>
          </a:p>
        </p:txBody>
      </p:sp>
    </p:spTree>
    <p:extLst>
      <p:ext uri="{BB962C8B-B14F-4D97-AF65-F5344CB8AC3E}">
        <p14:creationId xmlns:p14="http://schemas.microsoft.com/office/powerpoint/2010/main" val="3368300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81105-86A0-486E-12A7-8BD50C79A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Open Package Manager Console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2ECF464-17A9-0157-B0BA-A3343F6E4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899813"/>
            <a:ext cx="7188199" cy="305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58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161EC-EE0D-25D3-9E8E-4A6EB10E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>
                <a:cs typeface="Calibri Light"/>
              </a:rPr>
              <a:t>In the Console, Install the Packages</a:t>
            </a:r>
            <a:endParaRPr lang="en-GB" sz="54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44450E9-3125-A6EC-ADCB-3B80A6F9F5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54838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608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336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1DEF9-96C4-7761-D1EF-829B42F4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Right click Controllers -&gt; Add -&gt; New Scaffolded Item</a:t>
            </a: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6849326-E25A-C94D-23EE-4087AF21A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9948" y="640080"/>
            <a:ext cx="5903507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4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B9AD-CAB4-33D7-6FFE-BA2B12BA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010275"/>
            <a:ext cx="9144000" cy="7573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Select MVC Controller with views, using Entity Framework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04A7B6F-C49C-9BE4-EC2E-028015D1F6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08" b="3"/>
          <a:stretch/>
        </p:blipFill>
        <p:spPr>
          <a:xfrm>
            <a:off x="877414" y="877413"/>
            <a:ext cx="5218586" cy="3756852"/>
          </a:xfrm>
          <a:prstGeom prst="rect">
            <a:avLst/>
          </a:prstGeom>
        </p:spPr>
      </p:pic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A27A9F7D-DB3F-6159-1318-31E87F4FF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3808" b="3"/>
          <a:stretch/>
        </p:blipFill>
        <p:spPr>
          <a:xfrm>
            <a:off x="6096001" y="877413"/>
            <a:ext cx="5218586" cy="375685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F4C03CF-76AD-2B9F-7EAC-BD21772B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33402" y="-604469"/>
            <a:ext cx="123362" cy="1043900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459D69-81E2-5DEC-98A2-EF3BBA4EA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18160" y="2080291"/>
            <a:ext cx="123362" cy="5069490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5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0BD41-824B-C82F-E491-06D1C251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Select the Model Class you want to base the views on -&gt; Movies.cs</a:t>
            </a: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A791AF3-1CC8-CA26-F79C-F99AF0284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867035"/>
            <a:ext cx="7347537" cy="512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8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534B2-6153-E40D-F318-6C4AE631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Time to create a DBContext = Database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35B7B7DB-CCC0-969E-7579-B67471067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857850"/>
            <a:ext cx="7347537" cy="514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40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6BD4D-C2DC-E26A-80FF-F001143C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You are now ready to add the views – This may take some time.</a:t>
            </a: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CFD04F4-51B9-C47A-7380-79F989DB8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894588"/>
            <a:ext cx="7347537" cy="506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8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2F3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DC890-A7ED-E1DC-7CFF-5479BA2FE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This should be your new folder structure with a Controller and Views made for you</a:t>
            </a: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ACA9CA8-58DF-5CD5-4621-226607AD0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5951" y="640080"/>
            <a:ext cx="3291501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08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7D7C94-41C0-4614-8A18-941174D4D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5340D-FE9A-90CD-3B7D-43DF8171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68" y="1238032"/>
            <a:ext cx="9611581" cy="2558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Run the program and attempt to navigate to </a:t>
            </a:r>
            <a:r>
              <a:rPr lang="en-US" sz="5400" dirty="0">
                <a:solidFill>
                  <a:schemeClr val="tx2"/>
                </a:solidFill>
              </a:rPr>
              <a:t>/Movies</a:t>
            </a:r>
            <a:endParaRPr lang="en-US" sz="54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F6FBC1-6409-4059-B87B-1BE513242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A98E26-C7DC-48E3-8F50-FBF7F3C50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B3D45F-509E-43F3-B685-A5E78AD0D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53B0F8-0414-437D-87C2-23F48DF9C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B56551-40C7-4552-A11A-6D86B7EB08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6093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D43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2D792-398C-122D-F25F-6B9B9D885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Should get an Error – Need to make the database first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5828B94E-4048-68F2-3CA8-965EA29CD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2171223"/>
            <a:ext cx="7347537" cy="251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0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4C9E24-F67B-49D0-8336-BF12B3639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135FB8-81BC-449C-B26D-29BE2D6C2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22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5CA0B-A237-EDFF-F94F-5FEAFC47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68" y="1229196"/>
            <a:ext cx="10273850" cy="26771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Migrations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AD776D-FBA4-4C44-9778-05D5F0CC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BE9E8-A53B-4090-9C17-EB62E1FEC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4E0722C-3D21-4088-883B-5FD8091B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1110841-BFDD-476D-9A44-3AC7C0E01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5493FDB-F2C3-4517-9FC6-6668C2174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7470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45A0EE-C4C8-4AE1-B3C6-1261368AC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3739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Text&#10;&#10;Description automatically generated">
            <a:extLst>
              <a:ext uri="{FF2B5EF4-FFF2-40B4-BE49-F238E27FC236}">
                <a16:creationId xmlns:a16="http://schemas.microsoft.com/office/drawing/2014/main" id="{6DFC574B-BB68-35AC-8183-4B1186C9A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400" y="2588104"/>
            <a:ext cx="4879975" cy="167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BE2143-1D00-4B7A-9370-4FA9B5D7A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29" y="640080"/>
            <a:ext cx="4225290" cy="55788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Run the Following Command -&gt; Add-Migration InitialCreate</a:t>
            </a:r>
          </a:p>
        </p:txBody>
      </p:sp>
    </p:spTree>
    <p:extLst>
      <p:ext uri="{BB962C8B-B14F-4D97-AF65-F5344CB8AC3E}">
        <p14:creationId xmlns:p14="http://schemas.microsoft.com/office/powerpoint/2010/main" val="3785019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F803A3-CB0B-A22F-220B-DE72413FC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Now run the Update Database Command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F566AD58-4911-A32C-9ED3-E14D682B7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41082"/>
            <a:ext cx="7214616" cy="414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96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43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2C408-07E7-F662-E5F9-00D1DD44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Open the Database Design using the SqlServerExplorer to check if it has been made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2158BBB-49D8-F3A7-A068-84D6A9B62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9582" y="640080"/>
            <a:ext cx="6824239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F5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36767-E93B-AE40-98A3-10F1FF4E6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Now Run the website and test it out adding movies and more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3D80E22-E4BF-426E-589F-D84F4661F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33" y="1666079"/>
            <a:ext cx="7347537" cy="352681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954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AE54D-39D2-101B-7334-54974065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GB">
                <a:cs typeface="Calibri Light"/>
              </a:rPr>
              <a:t>Activity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20F62-8211-F4CC-384D-87C5D401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GB">
                <a:cs typeface="Calibri"/>
              </a:rPr>
              <a:t>The Client would now like to expand the website to store information about the following;</a:t>
            </a:r>
          </a:p>
          <a:p>
            <a:pPr lvl="1"/>
            <a:r>
              <a:rPr lang="en-GB" sz="2800">
                <a:cs typeface="Calibri"/>
              </a:rPr>
              <a:t>Books</a:t>
            </a:r>
          </a:p>
          <a:p>
            <a:pPr lvl="1"/>
            <a:r>
              <a:rPr lang="en-GB" sz="2800">
                <a:cs typeface="Calibri"/>
              </a:rPr>
              <a:t>Authors</a:t>
            </a:r>
          </a:p>
          <a:p>
            <a:pPr lvl="1"/>
            <a:r>
              <a:rPr lang="en-GB" sz="2800">
                <a:cs typeface="Calibri"/>
              </a:rPr>
              <a:t>TV Shows</a:t>
            </a:r>
          </a:p>
          <a:p>
            <a:pPr lvl="1"/>
            <a:r>
              <a:rPr lang="en-GB" sz="2800">
                <a:cs typeface="Calibri"/>
              </a:rPr>
              <a:t>Actors</a:t>
            </a:r>
          </a:p>
          <a:p>
            <a:pPr lvl="1"/>
            <a:r>
              <a:rPr lang="en-GB" sz="2800">
                <a:cs typeface="Calibri"/>
              </a:rPr>
              <a:t>Movies</a:t>
            </a:r>
          </a:p>
          <a:p>
            <a:pPr lvl="1"/>
            <a:r>
              <a:rPr lang="en-GB" sz="2800">
                <a:cs typeface="Calibri"/>
              </a:rPr>
              <a:t>Video Games</a:t>
            </a:r>
          </a:p>
          <a:p>
            <a:pPr marL="457200" lvl="1" indent="0">
              <a:buNone/>
            </a:pPr>
            <a:endParaRPr lang="en-GB" sz="2800">
              <a:cs typeface="Calibri"/>
            </a:endParaRPr>
          </a:p>
        </p:txBody>
      </p:sp>
      <p:pic>
        <p:nvPicPr>
          <p:cNvPr id="15" name="Picture 4" descr="Camera lens">
            <a:extLst>
              <a:ext uri="{FF2B5EF4-FFF2-40B4-BE49-F238E27FC236}">
                <a16:creationId xmlns:a16="http://schemas.microsoft.com/office/drawing/2014/main" id="{56992754-9930-ADEA-4C69-497E877707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50" r="39997" b="-3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6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5D9F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Using Models</vt:lpstr>
      <vt:lpstr>Learning Aims and Outcomes</vt:lpstr>
      <vt:lpstr>Starter</vt:lpstr>
      <vt:lpstr>Creating a New Model</vt:lpstr>
      <vt:lpstr>Right Click Models Folder -&gt; Add-&gt; Class -&gt; Movie.cs</vt:lpstr>
      <vt:lpstr>PowerPoint Presentation</vt:lpstr>
      <vt:lpstr>Now we need to create the model</vt:lpstr>
      <vt:lpstr>Scaffolding</vt:lpstr>
      <vt:lpstr>Open Package Manager Console</vt:lpstr>
      <vt:lpstr>In the Console, Install the Packages</vt:lpstr>
      <vt:lpstr>Right click Controllers -&gt; Add -&gt; New Scaffolded Item</vt:lpstr>
      <vt:lpstr>Select MVC Controller with views, using Entity Framework</vt:lpstr>
      <vt:lpstr>Select the Model Class you want to base the views on -&gt; Movies.cs</vt:lpstr>
      <vt:lpstr>Time to create a DBContext = Database</vt:lpstr>
      <vt:lpstr>You are now ready to add the views – This may take some time.</vt:lpstr>
      <vt:lpstr>This should be your new folder structure with a Controller and Views made for you</vt:lpstr>
      <vt:lpstr>Run the program and attempt to navigate to /Movies</vt:lpstr>
      <vt:lpstr>Should get an Error – Need to make the database first</vt:lpstr>
      <vt:lpstr>Migrations</vt:lpstr>
      <vt:lpstr>Run the Following Command -&gt; Add-Migration InitialCreate</vt:lpstr>
      <vt:lpstr>Now run the Update Database Command</vt:lpstr>
      <vt:lpstr>Open the Database Design using the SqlServerExplorer to check if it has been made</vt:lpstr>
      <vt:lpstr>Now Run the website and test it out adding movies and more</vt:lpstr>
      <vt:lpstr>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</dc:title>
  <dc:creator/>
  <cp:lastModifiedBy/>
  <cp:revision>173</cp:revision>
  <dcterms:created xsi:type="dcterms:W3CDTF">2023-10-23T19:49:53Z</dcterms:created>
  <dcterms:modified xsi:type="dcterms:W3CDTF">2023-10-24T11:22:41Z</dcterms:modified>
</cp:coreProperties>
</file>