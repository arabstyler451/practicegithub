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90" r:id="rId3"/>
    <p:sldId id="291" r:id="rId4"/>
    <p:sldId id="259" r:id="rId5"/>
    <p:sldId id="260" r:id="rId6"/>
    <p:sldId id="267" r:id="rId7"/>
    <p:sldId id="261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92" r:id="rId17"/>
    <p:sldId id="276" r:id="rId18"/>
    <p:sldId id="277" r:id="rId19"/>
    <p:sldId id="293" r:id="rId20"/>
    <p:sldId id="279" r:id="rId21"/>
    <p:sldId id="294" r:id="rId22"/>
    <p:sldId id="295" r:id="rId23"/>
    <p:sldId id="296" r:id="rId24"/>
    <p:sldId id="283" r:id="rId25"/>
    <p:sldId id="284" r:id="rId26"/>
    <p:sldId id="297" r:id="rId27"/>
    <p:sldId id="298" r:id="rId28"/>
    <p:sldId id="300" r:id="rId29"/>
    <p:sldId id="299" r:id="rId30"/>
    <p:sldId id="301" r:id="rId31"/>
    <p:sldId id="303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963BB-8FD9-0E29-9367-D48EA19C90A1}" v="7" dt="2024-11-11T12:12:36.119"/>
    <p1510:client id="{8981215D-49C2-350B-9048-0BBAF67BE85A}" v="708" dt="2024-11-09T22:38:40.242"/>
    <p1510:client id="{9DBB1CF6-B9E5-C29B-95E5-D3BAC564B290}" v="1035" dt="2024-11-10T16:58:10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1CDC5-9495-4FCB-9A12-688198A9E65B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9B4B5B-9CD6-4163-800D-B18879B879C6}">
      <dgm:prSet/>
      <dgm:spPr/>
      <dgm:t>
        <a:bodyPr/>
        <a:lstStyle/>
        <a:p>
          <a:r>
            <a:rPr lang="en-US"/>
            <a:t>Install</a:t>
          </a:r>
        </a:p>
      </dgm:t>
    </dgm:pt>
    <dgm:pt modelId="{4629631D-7539-4032-BADA-D373ACFD6431}" type="parTrans" cxnId="{013192E3-BA41-49F9-8755-9C31C9D6AB62}">
      <dgm:prSet/>
      <dgm:spPr/>
      <dgm:t>
        <a:bodyPr/>
        <a:lstStyle/>
        <a:p>
          <a:endParaRPr lang="en-US"/>
        </a:p>
      </dgm:t>
    </dgm:pt>
    <dgm:pt modelId="{6ABAEC32-1D42-4D36-9387-62D1FCE03936}" type="sibTrans" cxnId="{013192E3-BA41-49F9-8755-9C31C9D6AB62}">
      <dgm:prSet/>
      <dgm:spPr/>
      <dgm:t>
        <a:bodyPr/>
        <a:lstStyle/>
        <a:p>
          <a:endParaRPr lang="en-US"/>
        </a:p>
      </dgm:t>
    </dgm:pt>
    <dgm:pt modelId="{415DE23D-3A21-41BB-830A-40BA026B853E}">
      <dgm:prSet/>
      <dgm:spPr/>
      <dgm:t>
        <a:bodyPr/>
        <a:lstStyle/>
        <a:p>
          <a:r>
            <a:rPr lang="en-US"/>
            <a:t>Install-Package Microsoft.VisualStudio.Web.CodeGeneration.Design</a:t>
          </a:r>
        </a:p>
      </dgm:t>
    </dgm:pt>
    <dgm:pt modelId="{0EE50BF0-CC89-48B7-A3CC-F0052A7E350A}" type="parTrans" cxnId="{1A250654-9F16-475C-8FE8-F5467AC30176}">
      <dgm:prSet/>
      <dgm:spPr/>
      <dgm:t>
        <a:bodyPr/>
        <a:lstStyle/>
        <a:p>
          <a:endParaRPr lang="en-US"/>
        </a:p>
      </dgm:t>
    </dgm:pt>
    <dgm:pt modelId="{EB9ACB6C-D34D-4349-B021-32DA7206DED2}" type="sibTrans" cxnId="{1A250654-9F16-475C-8FE8-F5467AC30176}">
      <dgm:prSet/>
      <dgm:spPr/>
      <dgm:t>
        <a:bodyPr/>
        <a:lstStyle/>
        <a:p>
          <a:endParaRPr lang="en-US"/>
        </a:p>
      </dgm:t>
    </dgm:pt>
    <dgm:pt modelId="{F3F2C643-0DED-4E02-B659-AC7003A9C1C5}">
      <dgm:prSet/>
      <dgm:spPr/>
      <dgm:t>
        <a:bodyPr/>
        <a:lstStyle/>
        <a:p>
          <a:r>
            <a:rPr lang="en-US"/>
            <a:t>Install</a:t>
          </a:r>
        </a:p>
      </dgm:t>
    </dgm:pt>
    <dgm:pt modelId="{B006FABB-6B92-4E6A-A838-DFFE935145DA}" type="parTrans" cxnId="{65EB4C72-925F-4425-8135-DD0F6E54D727}">
      <dgm:prSet/>
      <dgm:spPr/>
      <dgm:t>
        <a:bodyPr/>
        <a:lstStyle/>
        <a:p>
          <a:endParaRPr lang="en-US"/>
        </a:p>
      </dgm:t>
    </dgm:pt>
    <dgm:pt modelId="{4ADA3D84-81BB-45A0-AC5A-C5EC8B15F34B}" type="sibTrans" cxnId="{65EB4C72-925F-4425-8135-DD0F6E54D727}">
      <dgm:prSet/>
      <dgm:spPr/>
      <dgm:t>
        <a:bodyPr/>
        <a:lstStyle/>
        <a:p>
          <a:endParaRPr lang="en-US"/>
        </a:p>
      </dgm:t>
    </dgm:pt>
    <dgm:pt modelId="{E6186B1E-BC5A-4FE7-BDAB-9D4B145A08D6}">
      <dgm:prSet/>
      <dgm:spPr/>
      <dgm:t>
        <a:bodyPr/>
        <a:lstStyle/>
        <a:p>
          <a:r>
            <a:rPr lang="en-US"/>
            <a:t>Install-Package Microsoft.EntityFrameworkCore.Design</a:t>
          </a:r>
        </a:p>
      </dgm:t>
    </dgm:pt>
    <dgm:pt modelId="{1D4DF534-BF2B-4885-84A2-7ED278A8F7C9}" type="parTrans" cxnId="{53B38867-9AE3-402A-9EB3-A4E3E71005A0}">
      <dgm:prSet/>
      <dgm:spPr/>
      <dgm:t>
        <a:bodyPr/>
        <a:lstStyle/>
        <a:p>
          <a:endParaRPr lang="en-US"/>
        </a:p>
      </dgm:t>
    </dgm:pt>
    <dgm:pt modelId="{4E478D29-192D-420F-9C94-DC1690AE03AE}" type="sibTrans" cxnId="{53B38867-9AE3-402A-9EB3-A4E3E71005A0}">
      <dgm:prSet/>
      <dgm:spPr/>
      <dgm:t>
        <a:bodyPr/>
        <a:lstStyle/>
        <a:p>
          <a:endParaRPr lang="en-US"/>
        </a:p>
      </dgm:t>
    </dgm:pt>
    <dgm:pt modelId="{92BBD6FD-8E39-46DF-A911-5BF69DAE6A3D}">
      <dgm:prSet/>
      <dgm:spPr/>
      <dgm:t>
        <a:bodyPr/>
        <a:lstStyle/>
        <a:p>
          <a:r>
            <a:rPr lang="en-US"/>
            <a:t>Install</a:t>
          </a:r>
        </a:p>
      </dgm:t>
    </dgm:pt>
    <dgm:pt modelId="{8618B612-91AA-4A52-9874-89ADC1D90016}" type="parTrans" cxnId="{10A074FF-816D-4478-9B5E-C26239FDC869}">
      <dgm:prSet/>
      <dgm:spPr/>
      <dgm:t>
        <a:bodyPr/>
        <a:lstStyle/>
        <a:p>
          <a:endParaRPr lang="en-US"/>
        </a:p>
      </dgm:t>
    </dgm:pt>
    <dgm:pt modelId="{A8FFC0E3-F0CD-4E7E-95AC-CB33E621EB21}" type="sibTrans" cxnId="{10A074FF-816D-4478-9B5E-C26239FDC869}">
      <dgm:prSet/>
      <dgm:spPr/>
      <dgm:t>
        <a:bodyPr/>
        <a:lstStyle/>
        <a:p>
          <a:endParaRPr lang="en-US"/>
        </a:p>
      </dgm:t>
    </dgm:pt>
    <dgm:pt modelId="{ADDF76A3-0AA6-4DCE-AFA1-75E972FA04D5}">
      <dgm:prSet/>
      <dgm:spPr/>
      <dgm:t>
        <a:bodyPr/>
        <a:lstStyle/>
        <a:p>
          <a:r>
            <a:rPr lang="en-US"/>
            <a:t>Install-Package Microsoft.EntityFrameworkCore.SqlServer</a:t>
          </a:r>
        </a:p>
      </dgm:t>
    </dgm:pt>
    <dgm:pt modelId="{F19EA46E-E9BF-4D59-A272-CB60ABA584C6}" type="parTrans" cxnId="{5A40E21F-B8BE-42B1-8A88-4E9CAD84C472}">
      <dgm:prSet/>
      <dgm:spPr/>
      <dgm:t>
        <a:bodyPr/>
        <a:lstStyle/>
        <a:p>
          <a:endParaRPr lang="en-US"/>
        </a:p>
      </dgm:t>
    </dgm:pt>
    <dgm:pt modelId="{FC3CA943-FE6A-4B54-A265-6E8C9D3B6628}" type="sibTrans" cxnId="{5A40E21F-B8BE-42B1-8A88-4E9CAD84C472}">
      <dgm:prSet/>
      <dgm:spPr/>
      <dgm:t>
        <a:bodyPr/>
        <a:lstStyle/>
        <a:p>
          <a:endParaRPr lang="en-US"/>
        </a:p>
      </dgm:t>
    </dgm:pt>
    <dgm:pt modelId="{8277A735-3470-462B-9AB4-BFB75668D257}" type="pres">
      <dgm:prSet presAssocID="{CE41CDC5-9495-4FCB-9A12-688198A9E65B}" presName="Name0" presStyleCnt="0">
        <dgm:presLayoutVars>
          <dgm:dir/>
          <dgm:animLvl val="lvl"/>
          <dgm:resizeHandles val="exact"/>
        </dgm:presLayoutVars>
      </dgm:prSet>
      <dgm:spPr/>
    </dgm:pt>
    <dgm:pt modelId="{26457729-2813-4C26-903F-BFF6CA1644C7}" type="pres">
      <dgm:prSet presAssocID="{92BBD6FD-8E39-46DF-A911-5BF69DAE6A3D}" presName="boxAndChildren" presStyleCnt="0"/>
      <dgm:spPr/>
    </dgm:pt>
    <dgm:pt modelId="{7F66D748-94CE-477B-8790-CD2C70E01AC4}" type="pres">
      <dgm:prSet presAssocID="{92BBD6FD-8E39-46DF-A911-5BF69DAE6A3D}" presName="parentTextBox" presStyleLbl="alignNode1" presStyleIdx="0" presStyleCnt="3"/>
      <dgm:spPr/>
    </dgm:pt>
    <dgm:pt modelId="{1AD7378F-E330-4925-BDE0-D9025CEF0701}" type="pres">
      <dgm:prSet presAssocID="{92BBD6FD-8E39-46DF-A911-5BF69DAE6A3D}" presName="descendantBox" presStyleLbl="bgAccFollowNode1" presStyleIdx="0" presStyleCnt="3"/>
      <dgm:spPr/>
    </dgm:pt>
    <dgm:pt modelId="{115D2CC3-A5F4-4A04-B546-7D5BF0C8CA6A}" type="pres">
      <dgm:prSet presAssocID="{4ADA3D84-81BB-45A0-AC5A-C5EC8B15F34B}" presName="sp" presStyleCnt="0"/>
      <dgm:spPr/>
    </dgm:pt>
    <dgm:pt modelId="{7BEF33D9-D7E2-44BC-BFF7-9F7BB9D16642}" type="pres">
      <dgm:prSet presAssocID="{F3F2C643-0DED-4E02-B659-AC7003A9C1C5}" presName="arrowAndChildren" presStyleCnt="0"/>
      <dgm:spPr/>
    </dgm:pt>
    <dgm:pt modelId="{2988B972-4B0D-49EF-85E8-C51AD02FFA81}" type="pres">
      <dgm:prSet presAssocID="{F3F2C643-0DED-4E02-B659-AC7003A9C1C5}" presName="parentTextArrow" presStyleLbl="node1" presStyleIdx="0" presStyleCnt="0"/>
      <dgm:spPr/>
    </dgm:pt>
    <dgm:pt modelId="{C94874D8-7831-4F27-8278-CF22AD721FDD}" type="pres">
      <dgm:prSet presAssocID="{F3F2C643-0DED-4E02-B659-AC7003A9C1C5}" presName="arrow" presStyleLbl="alignNode1" presStyleIdx="1" presStyleCnt="3"/>
      <dgm:spPr/>
    </dgm:pt>
    <dgm:pt modelId="{82FC942D-3D43-44F5-B80B-9E4A349A4340}" type="pres">
      <dgm:prSet presAssocID="{F3F2C643-0DED-4E02-B659-AC7003A9C1C5}" presName="descendantArrow" presStyleLbl="bgAccFollowNode1" presStyleIdx="1" presStyleCnt="3"/>
      <dgm:spPr/>
    </dgm:pt>
    <dgm:pt modelId="{51EBFE59-0128-478E-8F76-63AEB32BC670}" type="pres">
      <dgm:prSet presAssocID="{6ABAEC32-1D42-4D36-9387-62D1FCE03936}" presName="sp" presStyleCnt="0"/>
      <dgm:spPr/>
    </dgm:pt>
    <dgm:pt modelId="{57A19419-E185-443E-A3DF-D83C731915CC}" type="pres">
      <dgm:prSet presAssocID="{5C9B4B5B-9CD6-4163-800D-B18879B879C6}" presName="arrowAndChildren" presStyleCnt="0"/>
      <dgm:spPr/>
    </dgm:pt>
    <dgm:pt modelId="{F9615C0E-110A-48D3-B4C6-4A8B5995A06C}" type="pres">
      <dgm:prSet presAssocID="{5C9B4B5B-9CD6-4163-800D-B18879B879C6}" presName="parentTextArrow" presStyleLbl="node1" presStyleIdx="0" presStyleCnt="0"/>
      <dgm:spPr/>
    </dgm:pt>
    <dgm:pt modelId="{908CA42F-3871-4689-B03F-0964E87E3902}" type="pres">
      <dgm:prSet presAssocID="{5C9B4B5B-9CD6-4163-800D-B18879B879C6}" presName="arrow" presStyleLbl="alignNode1" presStyleIdx="2" presStyleCnt="3"/>
      <dgm:spPr/>
    </dgm:pt>
    <dgm:pt modelId="{C4183DAD-C35E-481F-97E3-B467C250D781}" type="pres">
      <dgm:prSet presAssocID="{5C9B4B5B-9CD6-4163-800D-B18879B879C6}" presName="descendantArrow" presStyleLbl="bgAccFollowNode1" presStyleIdx="2" presStyleCnt="3"/>
      <dgm:spPr/>
    </dgm:pt>
  </dgm:ptLst>
  <dgm:cxnLst>
    <dgm:cxn modelId="{5A40E21F-B8BE-42B1-8A88-4E9CAD84C472}" srcId="{92BBD6FD-8E39-46DF-A911-5BF69DAE6A3D}" destId="{ADDF76A3-0AA6-4DCE-AFA1-75E972FA04D5}" srcOrd="0" destOrd="0" parTransId="{F19EA46E-E9BF-4D59-A272-CB60ABA584C6}" sibTransId="{FC3CA943-FE6A-4B54-A265-6E8C9D3B6628}"/>
    <dgm:cxn modelId="{3998DC23-8C9E-4241-92E6-309C8E6F9AA4}" type="presOf" srcId="{E6186B1E-BC5A-4FE7-BDAB-9D4B145A08D6}" destId="{82FC942D-3D43-44F5-B80B-9E4A349A4340}" srcOrd="0" destOrd="0" presId="urn:microsoft.com/office/officeart/2016/7/layout/VerticalDownArrowProcess"/>
    <dgm:cxn modelId="{B318F243-9398-454B-948D-202082D5652C}" type="presOf" srcId="{ADDF76A3-0AA6-4DCE-AFA1-75E972FA04D5}" destId="{1AD7378F-E330-4925-BDE0-D9025CEF0701}" srcOrd="0" destOrd="0" presId="urn:microsoft.com/office/officeart/2016/7/layout/VerticalDownArrowProcess"/>
    <dgm:cxn modelId="{53B38867-9AE3-402A-9EB3-A4E3E71005A0}" srcId="{F3F2C643-0DED-4E02-B659-AC7003A9C1C5}" destId="{E6186B1E-BC5A-4FE7-BDAB-9D4B145A08D6}" srcOrd="0" destOrd="0" parTransId="{1D4DF534-BF2B-4885-84A2-7ED278A8F7C9}" sibTransId="{4E478D29-192D-420F-9C94-DC1690AE03AE}"/>
    <dgm:cxn modelId="{65EB4C72-925F-4425-8135-DD0F6E54D727}" srcId="{CE41CDC5-9495-4FCB-9A12-688198A9E65B}" destId="{F3F2C643-0DED-4E02-B659-AC7003A9C1C5}" srcOrd="1" destOrd="0" parTransId="{B006FABB-6B92-4E6A-A838-DFFE935145DA}" sibTransId="{4ADA3D84-81BB-45A0-AC5A-C5EC8B15F34B}"/>
    <dgm:cxn modelId="{1A250654-9F16-475C-8FE8-F5467AC30176}" srcId="{5C9B4B5B-9CD6-4163-800D-B18879B879C6}" destId="{415DE23D-3A21-41BB-830A-40BA026B853E}" srcOrd="0" destOrd="0" parTransId="{0EE50BF0-CC89-48B7-A3CC-F0052A7E350A}" sibTransId="{EB9ACB6C-D34D-4349-B021-32DA7206DED2}"/>
    <dgm:cxn modelId="{BB095759-2BF1-4EB1-B322-BE5343F0C6D2}" type="presOf" srcId="{5C9B4B5B-9CD6-4163-800D-B18879B879C6}" destId="{F9615C0E-110A-48D3-B4C6-4A8B5995A06C}" srcOrd="0" destOrd="0" presId="urn:microsoft.com/office/officeart/2016/7/layout/VerticalDownArrowProcess"/>
    <dgm:cxn modelId="{E13D45A8-EE87-4316-A83D-4E67B060BF25}" type="presOf" srcId="{CE41CDC5-9495-4FCB-9A12-688198A9E65B}" destId="{8277A735-3470-462B-9AB4-BFB75668D257}" srcOrd="0" destOrd="0" presId="urn:microsoft.com/office/officeart/2016/7/layout/VerticalDownArrowProcess"/>
    <dgm:cxn modelId="{CBA6F8D5-6B88-4251-BE72-F3EF1D9E778D}" type="presOf" srcId="{F3F2C643-0DED-4E02-B659-AC7003A9C1C5}" destId="{C94874D8-7831-4F27-8278-CF22AD721FDD}" srcOrd="1" destOrd="0" presId="urn:microsoft.com/office/officeart/2016/7/layout/VerticalDownArrowProcess"/>
    <dgm:cxn modelId="{013192E3-BA41-49F9-8755-9C31C9D6AB62}" srcId="{CE41CDC5-9495-4FCB-9A12-688198A9E65B}" destId="{5C9B4B5B-9CD6-4163-800D-B18879B879C6}" srcOrd="0" destOrd="0" parTransId="{4629631D-7539-4032-BADA-D373ACFD6431}" sibTransId="{6ABAEC32-1D42-4D36-9387-62D1FCE03936}"/>
    <dgm:cxn modelId="{239484E4-6E04-4BF1-89B0-112BE6E15AA9}" type="presOf" srcId="{92BBD6FD-8E39-46DF-A911-5BF69DAE6A3D}" destId="{7F66D748-94CE-477B-8790-CD2C70E01AC4}" srcOrd="0" destOrd="0" presId="urn:microsoft.com/office/officeart/2016/7/layout/VerticalDownArrowProcess"/>
    <dgm:cxn modelId="{0086C8EF-8A91-4DC7-8F07-FF4D6ECFECAF}" type="presOf" srcId="{415DE23D-3A21-41BB-830A-40BA026B853E}" destId="{C4183DAD-C35E-481F-97E3-B467C250D781}" srcOrd="0" destOrd="0" presId="urn:microsoft.com/office/officeart/2016/7/layout/VerticalDownArrowProcess"/>
    <dgm:cxn modelId="{CE3EE0F1-E778-4439-AD0F-13AA83C5F832}" type="presOf" srcId="{F3F2C643-0DED-4E02-B659-AC7003A9C1C5}" destId="{2988B972-4B0D-49EF-85E8-C51AD02FFA81}" srcOrd="0" destOrd="0" presId="urn:microsoft.com/office/officeart/2016/7/layout/VerticalDownArrowProcess"/>
    <dgm:cxn modelId="{B6136FFB-586A-4697-9A06-D8B9E3FE59C3}" type="presOf" srcId="{5C9B4B5B-9CD6-4163-800D-B18879B879C6}" destId="{908CA42F-3871-4689-B03F-0964E87E3902}" srcOrd="1" destOrd="0" presId="urn:microsoft.com/office/officeart/2016/7/layout/VerticalDownArrowProcess"/>
    <dgm:cxn modelId="{10A074FF-816D-4478-9B5E-C26239FDC869}" srcId="{CE41CDC5-9495-4FCB-9A12-688198A9E65B}" destId="{92BBD6FD-8E39-46DF-A911-5BF69DAE6A3D}" srcOrd="2" destOrd="0" parTransId="{8618B612-91AA-4A52-9874-89ADC1D90016}" sibTransId="{A8FFC0E3-F0CD-4E7E-95AC-CB33E621EB21}"/>
    <dgm:cxn modelId="{50B6E480-0749-4993-AA6B-DD72057A582A}" type="presParOf" srcId="{8277A735-3470-462B-9AB4-BFB75668D257}" destId="{26457729-2813-4C26-903F-BFF6CA1644C7}" srcOrd="0" destOrd="0" presId="urn:microsoft.com/office/officeart/2016/7/layout/VerticalDownArrowProcess"/>
    <dgm:cxn modelId="{E2531B1D-353E-4221-9BE5-3E28B7000E1F}" type="presParOf" srcId="{26457729-2813-4C26-903F-BFF6CA1644C7}" destId="{7F66D748-94CE-477B-8790-CD2C70E01AC4}" srcOrd="0" destOrd="0" presId="urn:microsoft.com/office/officeart/2016/7/layout/VerticalDownArrowProcess"/>
    <dgm:cxn modelId="{BA6EF2D3-2560-4A0C-B3B6-C41E21DC2250}" type="presParOf" srcId="{26457729-2813-4C26-903F-BFF6CA1644C7}" destId="{1AD7378F-E330-4925-BDE0-D9025CEF0701}" srcOrd="1" destOrd="0" presId="urn:microsoft.com/office/officeart/2016/7/layout/VerticalDownArrowProcess"/>
    <dgm:cxn modelId="{99BB6FD0-43E1-42E7-AAF7-839F4DFF1E16}" type="presParOf" srcId="{8277A735-3470-462B-9AB4-BFB75668D257}" destId="{115D2CC3-A5F4-4A04-B546-7D5BF0C8CA6A}" srcOrd="1" destOrd="0" presId="urn:microsoft.com/office/officeart/2016/7/layout/VerticalDownArrowProcess"/>
    <dgm:cxn modelId="{68150476-EE91-4BE6-80F9-15326537F931}" type="presParOf" srcId="{8277A735-3470-462B-9AB4-BFB75668D257}" destId="{7BEF33D9-D7E2-44BC-BFF7-9F7BB9D16642}" srcOrd="2" destOrd="0" presId="urn:microsoft.com/office/officeart/2016/7/layout/VerticalDownArrowProcess"/>
    <dgm:cxn modelId="{C1906074-7729-4E51-B630-63144CEA0020}" type="presParOf" srcId="{7BEF33D9-D7E2-44BC-BFF7-9F7BB9D16642}" destId="{2988B972-4B0D-49EF-85E8-C51AD02FFA81}" srcOrd="0" destOrd="0" presId="urn:microsoft.com/office/officeart/2016/7/layout/VerticalDownArrowProcess"/>
    <dgm:cxn modelId="{8A5782C5-2FCE-415B-B370-B773EF94341D}" type="presParOf" srcId="{7BEF33D9-D7E2-44BC-BFF7-9F7BB9D16642}" destId="{C94874D8-7831-4F27-8278-CF22AD721FDD}" srcOrd="1" destOrd="0" presId="urn:microsoft.com/office/officeart/2016/7/layout/VerticalDownArrowProcess"/>
    <dgm:cxn modelId="{695FDDFE-2037-4D8A-82E9-9B3B0E5310C1}" type="presParOf" srcId="{7BEF33D9-D7E2-44BC-BFF7-9F7BB9D16642}" destId="{82FC942D-3D43-44F5-B80B-9E4A349A4340}" srcOrd="2" destOrd="0" presId="urn:microsoft.com/office/officeart/2016/7/layout/VerticalDownArrowProcess"/>
    <dgm:cxn modelId="{417A9A9A-E9F4-4E97-AC21-B10F861C1FCB}" type="presParOf" srcId="{8277A735-3470-462B-9AB4-BFB75668D257}" destId="{51EBFE59-0128-478E-8F76-63AEB32BC670}" srcOrd="3" destOrd="0" presId="urn:microsoft.com/office/officeart/2016/7/layout/VerticalDownArrowProcess"/>
    <dgm:cxn modelId="{2BEB4E43-F2D0-476E-9214-F27C7D226B4A}" type="presParOf" srcId="{8277A735-3470-462B-9AB4-BFB75668D257}" destId="{57A19419-E185-443E-A3DF-D83C731915CC}" srcOrd="4" destOrd="0" presId="urn:microsoft.com/office/officeart/2016/7/layout/VerticalDownArrowProcess"/>
    <dgm:cxn modelId="{BB617207-6968-4BB8-880E-4C4F968EE87B}" type="presParOf" srcId="{57A19419-E185-443E-A3DF-D83C731915CC}" destId="{F9615C0E-110A-48D3-B4C6-4A8B5995A06C}" srcOrd="0" destOrd="0" presId="urn:microsoft.com/office/officeart/2016/7/layout/VerticalDownArrowProcess"/>
    <dgm:cxn modelId="{14E59F38-1BC1-4F5A-868D-32A54305547D}" type="presParOf" srcId="{57A19419-E185-443E-A3DF-D83C731915CC}" destId="{908CA42F-3871-4689-B03F-0964E87E3902}" srcOrd="1" destOrd="0" presId="urn:microsoft.com/office/officeart/2016/7/layout/VerticalDownArrowProcess"/>
    <dgm:cxn modelId="{427E6FF6-D392-4C65-AFF9-763EE26BFB8B}" type="presParOf" srcId="{57A19419-E185-443E-A3DF-D83C731915CC}" destId="{C4183DAD-C35E-481F-97E3-B467C250D78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6D748-94CE-477B-8790-CD2C70E01AC4}">
      <dsp:nvSpPr>
        <dsp:cNvPr id="0" name=""/>
        <dsp:cNvSpPr/>
      </dsp:nvSpPr>
      <dsp:spPr>
        <a:xfrm>
          <a:off x="0" y="2918383"/>
          <a:ext cx="2626614" cy="95787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805" tIns="234696" rIns="186805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Install</a:t>
          </a:r>
        </a:p>
      </dsp:txBody>
      <dsp:txXfrm>
        <a:off x="0" y="2918383"/>
        <a:ext cx="2626614" cy="957878"/>
      </dsp:txXfrm>
    </dsp:sp>
    <dsp:sp modelId="{1AD7378F-E330-4925-BDE0-D9025CEF0701}">
      <dsp:nvSpPr>
        <dsp:cNvPr id="0" name=""/>
        <dsp:cNvSpPr/>
      </dsp:nvSpPr>
      <dsp:spPr>
        <a:xfrm>
          <a:off x="2626614" y="2918383"/>
          <a:ext cx="7879842" cy="95787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840" tIns="266700" rIns="159840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Install-Package Microsoft.EntityFrameworkCore.SqlServer</a:t>
          </a:r>
        </a:p>
      </dsp:txBody>
      <dsp:txXfrm>
        <a:off x="2626614" y="2918383"/>
        <a:ext cx="7879842" cy="957878"/>
      </dsp:txXfrm>
    </dsp:sp>
    <dsp:sp modelId="{C94874D8-7831-4F27-8278-CF22AD721FDD}">
      <dsp:nvSpPr>
        <dsp:cNvPr id="0" name=""/>
        <dsp:cNvSpPr/>
      </dsp:nvSpPr>
      <dsp:spPr>
        <a:xfrm rot="10800000">
          <a:off x="0" y="1459534"/>
          <a:ext cx="2626614" cy="14732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805" tIns="234696" rIns="186805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Install</a:t>
          </a:r>
        </a:p>
      </dsp:txBody>
      <dsp:txXfrm rot="-10800000">
        <a:off x="0" y="1459534"/>
        <a:ext cx="2626614" cy="957591"/>
      </dsp:txXfrm>
    </dsp:sp>
    <dsp:sp modelId="{82FC942D-3D43-44F5-B80B-9E4A349A4340}">
      <dsp:nvSpPr>
        <dsp:cNvPr id="0" name=""/>
        <dsp:cNvSpPr/>
      </dsp:nvSpPr>
      <dsp:spPr>
        <a:xfrm>
          <a:off x="2626614" y="1459534"/>
          <a:ext cx="7879842" cy="957591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840" tIns="266700" rIns="159840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Install-Package Microsoft.EntityFrameworkCore.Design</a:t>
          </a:r>
        </a:p>
      </dsp:txBody>
      <dsp:txXfrm>
        <a:off x="2626614" y="1459534"/>
        <a:ext cx="7879842" cy="957591"/>
      </dsp:txXfrm>
    </dsp:sp>
    <dsp:sp modelId="{908CA42F-3871-4689-B03F-0964E87E3902}">
      <dsp:nvSpPr>
        <dsp:cNvPr id="0" name=""/>
        <dsp:cNvSpPr/>
      </dsp:nvSpPr>
      <dsp:spPr>
        <a:xfrm rot="10800000">
          <a:off x="0" y="685"/>
          <a:ext cx="2626614" cy="14732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805" tIns="234696" rIns="186805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Install</a:t>
          </a:r>
        </a:p>
      </dsp:txBody>
      <dsp:txXfrm rot="-10800000">
        <a:off x="0" y="685"/>
        <a:ext cx="2626614" cy="957591"/>
      </dsp:txXfrm>
    </dsp:sp>
    <dsp:sp modelId="{C4183DAD-C35E-481F-97E3-B467C250D781}">
      <dsp:nvSpPr>
        <dsp:cNvPr id="0" name=""/>
        <dsp:cNvSpPr/>
      </dsp:nvSpPr>
      <dsp:spPr>
        <a:xfrm>
          <a:off x="2626614" y="685"/>
          <a:ext cx="7879842" cy="957591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840" tIns="266700" rIns="159840" bIns="2667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Install-Package Microsoft.VisualStudio.Web.CodeGeneration.Design</a:t>
          </a:r>
        </a:p>
      </dsp:txBody>
      <dsp:txXfrm>
        <a:off x="2626614" y="685"/>
        <a:ext cx="7879842" cy="957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3016" y="2991069"/>
            <a:ext cx="6884895" cy="871418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solidFill>
                  <a:srgbClr val="595959"/>
                </a:solidFill>
              </a:rPr>
              <a:t>Hotel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2142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049" y="1716906"/>
            <a:ext cx="9302058" cy="3432237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rgbClr val="595959"/>
                </a:solidFill>
              </a:rPr>
              <a:t>Starter</a:t>
            </a:r>
            <a:br>
              <a:rPr lang="en-US" sz="5400" b="1" dirty="0">
                <a:solidFill>
                  <a:srgbClr val="595959"/>
                </a:solidFill>
              </a:rPr>
            </a:br>
            <a:r>
              <a:rPr lang="en-US" sz="5400" b="1" dirty="0">
                <a:solidFill>
                  <a:srgbClr val="595959"/>
                </a:solidFill>
              </a:rPr>
              <a:t> </a:t>
            </a:r>
            <a:br>
              <a:rPr lang="en-US" sz="5400" b="1" dirty="0">
                <a:solidFill>
                  <a:srgbClr val="595959"/>
                </a:solidFill>
              </a:rPr>
            </a:br>
            <a:r>
              <a:rPr lang="en-US" sz="5400" dirty="0">
                <a:solidFill>
                  <a:srgbClr val="595959"/>
                </a:solidFill>
              </a:rPr>
              <a:t>Explain the connection between Models, Views and Controllers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610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BFD19-B10B-203C-05FF-D899E605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16" y="2776442"/>
            <a:ext cx="2924843" cy="13173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Create a new Project called Sandwell Hotels</a:t>
            </a:r>
            <a:endParaRPr lang="en-US" sz="2800" b="1" kern="1200" dirty="0">
              <a:solidFill>
                <a:srgbClr val="595959"/>
              </a:solidFill>
              <a:latin typeface="+mj-lt"/>
            </a:endParaRP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37EE3E16-867B-AD8C-01B0-0CED9B205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273" y="1481005"/>
            <a:ext cx="7087593" cy="389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0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B7A58-957B-F47C-A7A5-F0157328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16" y="2570327"/>
            <a:ext cx="2924843" cy="17170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Make sure to select .NET 8.0 and Individual Accounts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685F0A43-3C0C-3CC3-F0AE-77C116187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716" y="1680874"/>
            <a:ext cx="6106987" cy="349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7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161EC-EE0D-25D3-9E8E-4A6EB10E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GB" sz="4800">
                <a:cs typeface="Calibri Light"/>
              </a:rPr>
              <a:t>Install the 3 Packages from the NPM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44450E9-3125-A6EC-ADCB-3B80A6F9F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8405781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69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9BF75-9E27-8356-9A01-71B7BE9B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09" y="3007539"/>
            <a:ext cx="3362056" cy="8488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Create a new model for a Hotel Room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D86EE31-31ED-5B86-E7D9-AA29E48C8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9782" y="1053514"/>
            <a:ext cx="7118823" cy="475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1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507D5-7D8E-D808-FABC-F72DC042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67" y="2788932"/>
            <a:ext cx="3543187" cy="12861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Scaffold a Controller and views based off this model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2CE1FA6-1CD3-C619-3D40-EC5DC830F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8552" y="975094"/>
            <a:ext cx="7156298" cy="490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5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6C0A0-3A50-2117-BA83-983561FE6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37" y="2988802"/>
            <a:ext cx="3605646" cy="8801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Should now have the following structure</a:t>
            </a:r>
            <a:endParaRPr lang="en-US" sz="2800" b="1" kern="1200" dirty="0">
              <a:solidFill>
                <a:srgbClr val="595959"/>
              </a:solidFill>
              <a:latin typeface="+mj-lt"/>
            </a:endParaRP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DCA2574-C4AA-B919-A802-2F59A1F7D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9307" y="167389"/>
            <a:ext cx="3987345" cy="652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2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D9166-BE5B-E9F6-494D-A308AFF9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/>
              <a:t>Add-Migration and Update-Database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43A78B3-F498-0747-1AA0-E0EE18410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782" b="96040"/>
          <a:stretch/>
        </p:blipFill>
        <p:spPr>
          <a:xfrm>
            <a:off x="1470934" y="4105470"/>
            <a:ext cx="9486199" cy="1007531"/>
          </a:xfrm>
          <a:prstGeom prst="rect">
            <a:avLst/>
          </a:prstGeom>
        </p:spPr>
      </p:pic>
      <p:pic>
        <p:nvPicPr>
          <p:cNvPr id="4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63544DCA-16F3-BFF5-8EED-AB5CD9BF0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1955" b="83909"/>
          <a:stretch/>
        </p:blipFill>
        <p:spPr>
          <a:xfrm>
            <a:off x="316916" y="2761326"/>
            <a:ext cx="11799659" cy="75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74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4B372-B1CB-3C6E-DB02-53BFC14D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78" y="3007539"/>
            <a:ext cx="3730564" cy="8488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Now let's add some hotel rooms to our database</a:t>
            </a:r>
          </a:p>
        </p:txBody>
      </p:sp>
      <p:pic>
        <p:nvPicPr>
          <p:cNvPr id="4" name="Picture 3" descr="A screenshot of a hotel login&#10;&#10;Description automatically generated">
            <a:extLst>
              <a:ext uri="{FF2B5EF4-FFF2-40B4-BE49-F238E27FC236}">
                <a16:creationId xmlns:a16="http://schemas.microsoft.com/office/drawing/2014/main" id="{F66B7FA1-6EDE-120A-F9A6-7C11DF6AD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016" y="685799"/>
            <a:ext cx="539038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9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49E48-55B4-43FA-96F3-A3F777E0F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96161-F1E3-08B2-2BA4-0EF4E64A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10425011" cy="13304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Create the following 3 Hotel Rooms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hotel room&#10;&#10;Description automatically generated">
            <a:extLst>
              <a:ext uri="{FF2B5EF4-FFF2-40B4-BE49-F238E27FC236}">
                <a16:creationId xmlns:a16="http://schemas.microsoft.com/office/drawing/2014/main" id="{9ECA3CED-E20D-3EF1-ADE1-AA931920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9" y="2091095"/>
            <a:ext cx="3380422" cy="4160520"/>
          </a:xfrm>
          <a:prstGeom prst="rect">
            <a:avLst/>
          </a:prstGeom>
        </p:spPr>
      </p:pic>
      <p:pic>
        <p:nvPicPr>
          <p:cNvPr id="6" name="Picture 5" descr="A screenshot of a hotel room&#10;&#10;Description automatically generated">
            <a:extLst>
              <a:ext uri="{FF2B5EF4-FFF2-40B4-BE49-F238E27FC236}">
                <a16:creationId xmlns:a16="http://schemas.microsoft.com/office/drawing/2014/main" id="{D9BEB2BE-AC41-6149-F782-ECE40295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81" y="2086081"/>
            <a:ext cx="3505237" cy="4160520"/>
          </a:xfrm>
          <a:prstGeom prst="rect">
            <a:avLst/>
          </a:prstGeom>
        </p:spPr>
      </p:pic>
      <p:pic>
        <p:nvPicPr>
          <p:cNvPr id="4" name="Content Placeholder 3" descr="A screenshot of a hotel room&#10;&#10;Description automatically generated">
            <a:extLst>
              <a:ext uri="{FF2B5EF4-FFF2-40B4-BE49-F238E27FC236}">
                <a16:creationId xmlns:a16="http://schemas.microsoft.com/office/drawing/2014/main" id="{14AFFFC8-DD37-297A-1A71-E3F5D2145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212627" y="2086081"/>
            <a:ext cx="360925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95D4A-1DDD-D7F9-396D-88E66855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Should now have the following data</a:t>
            </a:r>
          </a:p>
        </p:txBody>
      </p:sp>
      <p:pic>
        <p:nvPicPr>
          <p:cNvPr id="4" name="Content Placeholder 3" descr="A screenshot of a number of rating&#10;&#10;Description automatically generated">
            <a:extLst>
              <a:ext uri="{FF2B5EF4-FFF2-40B4-BE49-F238E27FC236}">
                <a16:creationId xmlns:a16="http://schemas.microsoft.com/office/drawing/2014/main" id="{65B57381-90B0-7AE9-6521-9380744E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5" y="1691930"/>
            <a:ext cx="11261424" cy="1884351"/>
          </a:xfrm>
          <a:prstGeom prst="rect">
            <a:avLst/>
          </a:pr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33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A1FA41-E1D1-43CF-8B3B-5E6140890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2D84B-6969-4F00-BEBA-81C2EBC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282BE-4461-4794-89A5-394723CD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BCBAB-D29E-5D7E-CAD9-458D9226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115" y="1808855"/>
            <a:ext cx="2552956" cy="324029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Methods we are going to add to 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D697F-A23F-D5E0-ECDE-69320E0F4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856" y="871442"/>
            <a:ext cx="4363748" cy="51151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Filter By Bedrooms</a:t>
            </a:r>
          </a:p>
          <a:p>
            <a:pPr marL="0" indent="0">
              <a:buNone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Only Display Available Rooms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Search for a room by Location or by the Name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Sorting the rooms by Price or by Star Rating or by Guest Rating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42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962088"/>
            <a:ext cx="9626795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Filter By Bedrooms</a:t>
            </a:r>
            <a:r>
              <a:rPr lang="en-US" sz="3200" b="1" dirty="0">
                <a:solidFill>
                  <a:srgbClr val="595959"/>
                </a:solidFill>
              </a:rPr>
              <a:t> Form</a:t>
            </a:r>
            <a:endParaRPr lang="en-US" sz="32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4919" y="2912100"/>
            <a:ext cx="3624484" cy="10350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First, we create the form in the Index View in the </a:t>
            </a:r>
            <a:r>
              <a:rPr lang="en-US" sz="2000" b="1" kern="1200" err="1">
                <a:solidFill>
                  <a:srgbClr val="595959"/>
                </a:solidFill>
                <a:latin typeface="+mn-lt"/>
                <a:ea typeface="+mn-ea"/>
                <a:cs typeface="+mn-cs"/>
              </a:rPr>
              <a:t>HotelRooms</a:t>
            </a:r>
            <a:r>
              <a:rPr lang="en-US" sz="2000" b="1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Folder</a:t>
            </a: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1AFF435-4F18-4662-2F46-019C3F7A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12" y="1641185"/>
            <a:ext cx="9562292" cy="418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4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962088"/>
            <a:ext cx="9127123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FilterByBedrooms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Endpoint in the Controller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165" y="4173772"/>
            <a:ext cx="6260254" cy="13848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We create a variable finding all hotels with that many bedrooms</a:t>
            </a:r>
            <a:endParaRPr lang="en-US" sz="2000" b="1">
              <a:solidFill>
                <a:srgbClr val="595959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Then we return the </a:t>
            </a:r>
            <a:r>
              <a:rPr lang="en-US" sz="2000" b="1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Index </a:t>
            </a:r>
            <a:r>
              <a:rPr lang="en-US" sz="2000" b="1" dirty="0">
                <a:solidFill>
                  <a:srgbClr val="595959"/>
                </a:solidFill>
              </a:rPr>
              <a:t>view passing </a:t>
            </a:r>
            <a:r>
              <a:rPr lang="en-US" sz="2000" b="1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000" b="1" dirty="0">
                <a:solidFill>
                  <a:srgbClr val="595959"/>
                </a:solidFill>
              </a:rPr>
              <a:t>variable through</a:t>
            </a:r>
            <a:endParaRPr lang="en-US" sz="2000" b="1">
              <a:solidFill>
                <a:srgbClr val="595959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rgbClr val="595959"/>
              </a:solidFill>
            </a:endParaRPr>
          </a:p>
        </p:txBody>
      </p:sp>
      <p:pic>
        <p:nvPicPr>
          <p:cNvPr id="6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671924B6-F729-20E9-2587-B1637A95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29" y="2284598"/>
            <a:ext cx="10176615" cy="13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14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22DF9-3A18-6944-F13D-F8AE8BD6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83" y="2610444"/>
            <a:ext cx="6884895" cy="97823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6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Test it Out</a:t>
            </a:r>
            <a:endParaRPr lang="en-US" sz="66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751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801A9-85D5-CB6E-9806-BE9065C6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529" y="3028919"/>
            <a:ext cx="6884895" cy="5535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4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What is the problem?</a:t>
            </a:r>
            <a:endParaRPr lang="en-US" sz="54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4464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Form to See all Rooms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460" y="4361149"/>
            <a:ext cx="5754336" cy="10350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Now </a:t>
            </a:r>
            <a:r>
              <a:rPr lang="en-US" sz="2000" b="1" kern="1200" dirty="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we </a:t>
            </a:r>
            <a:r>
              <a:rPr lang="en-US" sz="2000" b="1" dirty="0">
                <a:solidFill>
                  <a:srgbClr val="595959"/>
                </a:solidFill>
              </a:rPr>
              <a:t>have a way to return back to our original view with all hotel rooms on display</a:t>
            </a:r>
            <a:endParaRPr lang="en-US" sz="2000" b="1" kern="1200" dirty="0">
              <a:solidFill>
                <a:srgbClr val="595959"/>
              </a:solidFill>
              <a:latin typeface="+mn-lt"/>
            </a:endParaRPr>
          </a:p>
        </p:txBody>
      </p:sp>
      <p:pic>
        <p:nvPicPr>
          <p:cNvPr id="6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267CCC31-3DF8-CEB7-CE9D-F44CB149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921" y="2459024"/>
            <a:ext cx="82486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36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35922-FB5D-FA2D-3A63-639057A5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83" y="2498018"/>
            <a:ext cx="6884895" cy="185891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Only Display Available Rooms</a:t>
            </a:r>
            <a:endParaRPr lang="en-US" sz="60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767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Form to Access the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460" y="4086329"/>
            <a:ext cx="5754336" cy="1534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This form can now be run to allow us to run the </a:t>
            </a:r>
            <a:r>
              <a:rPr lang="en-US" sz="2000" b="1">
                <a:solidFill>
                  <a:srgbClr val="595959"/>
                </a:solidFill>
              </a:rPr>
              <a:t>method to only display available rooms.</a:t>
            </a:r>
            <a:endParaRPr lang="en-US" sz="2000" b="1" dirty="0">
              <a:solidFill>
                <a:srgbClr val="595959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rgbClr val="595959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Could be done with an "&lt;a&gt;" tag as well</a:t>
            </a:r>
          </a:p>
        </p:txBody>
      </p:sp>
      <p:pic>
        <p:nvPicPr>
          <p:cNvPr id="5" name="Content Placeholder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406E460D-DDB9-937B-48B7-85F857B1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46" y="2482837"/>
            <a:ext cx="94488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0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 err="1">
                <a:solidFill>
                  <a:srgbClr val="595959"/>
                </a:solidFill>
              </a:rPr>
              <a:t>AvailableRooms</a:t>
            </a:r>
            <a:r>
              <a:rPr lang="en-US" sz="3200" b="1" dirty="0">
                <a:solidFill>
                  <a:srgbClr val="595959"/>
                </a:solidFill>
              </a:rPr>
              <a:t> Endpoint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837" y="4005132"/>
            <a:ext cx="7659336" cy="18408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Similar to</a:t>
            </a:r>
            <a:r>
              <a:rPr lang="en-US" sz="2000" b="1">
                <a:solidFill>
                  <a:srgbClr val="595959"/>
                </a:solidFill>
              </a:rPr>
              <a:t> the Bedrooms Endpoint.</a:t>
            </a:r>
            <a:endParaRPr lang="en-US"/>
          </a:p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Create a new variable and searches for all hotel rooms where </a:t>
            </a:r>
            <a:r>
              <a:rPr lang="en-US" sz="2000" b="1" err="1">
                <a:solidFill>
                  <a:srgbClr val="595959"/>
                </a:solidFill>
              </a:rPr>
              <a:t>IsAvailable</a:t>
            </a:r>
            <a:r>
              <a:rPr lang="en-US" sz="2000" b="1">
                <a:solidFill>
                  <a:srgbClr val="595959"/>
                </a:solidFill>
              </a:rPr>
              <a:t> is True.</a:t>
            </a:r>
          </a:p>
          <a:p>
            <a:pPr marL="342900" indent="-342900" algn="ctr"/>
            <a:r>
              <a:rPr lang="en-US" sz="2000" b="1">
                <a:solidFill>
                  <a:srgbClr val="595959"/>
                </a:solidFill>
              </a:rPr>
              <a:t>Returns the Index View with the variable passed through</a:t>
            </a:r>
            <a:endParaRPr lang="en-US" sz="2000" b="1" dirty="0">
              <a:solidFill>
                <a:srgbClr val="595959"/>
              </a:solidFill>
            </a:endParaRPr>
          </a:p>
        </p:txBody>
      </p:sp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159E8850-9E36-E422-66CA-77E28AFC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0" y="2220418"/>
            <a:ext cx="10342900" cy="13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12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22DF9-3A18-6944-F13D-F8AE8BD6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83" y="2610444"/>
            <a:ext cx="6884895" cy="97823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6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Test it Out</a:t>
            </a:r>
            <a:endParaRPr lang="en-US" sz="66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1010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E8AE1-6B4A-E391-09C1-D0DA9515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80" y="1885918"/>
            <a:ext cx="9770501" cy="308935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4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Task </a:t>
            </a:r>
            <a:b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Find all rooms in a specific location</a:t>
            </a:r>
            <a:endParaRPr lang="en-US" sz="54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7611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51A93-AEE4-5B48-2A94-C024EEA4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29" y="2510509"/>
            <a:ext cx="8396403" cy="184017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Sorting the rooms by a factor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60603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Add two buttons to allow to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837" y="4005132"/>
            <a:ext cx="7659336" cy="18408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Two &lt;a&gt; tags </a:t>
            </a:r>
            <a:r>
              <a:rPr lang="en-US" sz="2000" b="1" dirty="0" err="1">
                <a:solidFill>
                  <a:srgbClr val="595959"/>
                </a:solidFill>
              </a:rPr>
              <a:t>willl</a:t>
            </a:r>
            <a:r>
              <a:rPr lang="en-US" sz="2000" b="1" dirty="0">
                <a:solidFill>
                  <a:srgbClr val="595959"/>
                </a:solidFill>
              </a:rPr>
              <a:t> allow users to hit the corresponding endpoint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</a:rPr>
              <a:t>Difference is the value of ascending that is passed through either false or true</a:t>
            </a:r>
          </a:p>
        </p:txBody>
      </p:sp>
      <p:pic>
        <p:nvPicPr>
          <p:cNvPr id="5" name="Content Placeholder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80677C23-13D4-DE79-4FCC-C202E6EB8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64" y="2466849"/>
            <a:ext cx="10359608" cy="66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39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 err="1">
                <a:solidFill>
                  <a:srgbClr val="595959"/>
                </a:solidFill>
              </a:rPr>
              <a:t>SortByGuestRating</a:t>
            </a:r>
            <a:r>
              <a:rPr lang="en-US" sz="3200" b="1" dirty="0">
                <a:solidFill>
                  <a:srgbClr val="595959"/>
                </a:solidFill>
              </a:rPr>
              <a:t> Endpoint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837" y="4779623"/>
            <a:ext cx="7659336" cy="12661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If statement to check if it is in ascending or descending order. </a:t>
            </a:r>
            <a:endParaRPr lang="en-US"/>
          </a:p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Create the variable where it uses "</a:t>
            </a:r>
            <a:r>
              <a:rPr lang="en-US" sz="2000" b="1" dirty="0" err="1">
                <a:solidFill>
                  <a:srgbClr val="595959"/>
                </a:solidFill>
              </a:rPr>
              <a:t>OrderBy</a:t>
            </a:r>
            <a:r>
              <a:rPr lang="en-US" sz="2000" b="1" dirty="0">
                <a:solidFill>
                  <a:srgbClr val="595959"/>
                </a:solidFill>
              </a:rPr>
              <a:t>" to sort the data</a:t>
            </a:r>
          </a:p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Returns the Index View with the variable passed through</a:t>
            </a:r>
          </a:p>
        </p:txBody>
      </p:sp>
      <p:pic>
        <p:nvPicPr>
          <p:cNvPr id="6" name="Picture 5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78119999-DEF2-DEC0-A7C4-980B2702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466" y="1868639"/>
            <a:ext cx="8567659" cy="267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34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51A93-AEE4-5B48-2A94-C024EEA4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29" y="2510509"/>
            <a:ext cx="8396403" cy="184017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Filter by a Minimum and Maximum Price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5785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Filter By Price 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837" y="4617230"/>
            <a:ext cx="7659336" cy="12661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Create a form to hit the right endpoint</a:t>
            </a:r>
          </a:p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Two number inputs for the minimum and maximum price</a:t>
            </a:r>
          </a:p>
          <a:p>
            <a:pPr marL="342900" indent="-342900" algn="ctr"/>
            <a:r>
              <a:rPr lang="en-US" sz="2000" b="1" dirty="0">
                <a:solidFill>
                  <a:srgbClr val="595959"/>
                </a:solidFill>
              </a:rPr>
              <a:t>Submit Button</a:t>
            </a: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DFC42B7-CC3D-442B-3C4E-8899AAAB2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64" y="2033276"/>
            <a:ext cx="7229318" cy="21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52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B048-E5E1-A140-99F2-57CF1303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6" y="962088"/>
            <a:ext cx="10819760" cy="609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Filter By Price Endpoint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DD1B-CA2B-567A-7D1C-9FDC6E16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773" y="3886459"/>
            <a:ext cx="10501219" cy="21655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ctr"/>
            <a:r>
              <a:rPr lang="en-US" sz="2400" b="1" dirty="0">
                <a:solidFill>
                  <a:srgbClr val="595959"/>
                </a:solidFill>
              </a:rPr>
              <a:t>Create the variable searching for where the </a:t>
            </a:r>
            <a:r>
              <a:rPr lang="en-US" sz="2400" b="1" dirty="0" err="1">
                <a:solidFill>
                  <a:srgbClr val="595959"/>
                </a:solidFill>
              </a:rPr>
              <a:t>PricePerNight</a:t>
            </a:r>
            <a:r>
              <a:rPr lang="en-US" sz="2400" b="1" dirty="0">
                <a:solidFill>
                  <a:srgbClr val="595959"/>
                </a:solidFill>
              </a:rPr>
              <a:t> is greater than or equal to the minimum AND </a:t>
            </a:r>
            <a:r>
              <a:rPr lang="en-US" sz="2400" b="1" dirty="0" err="1">
                <a:solidFill>
                  <a:srgbClr val="595959"/>
                </a:solidFill>
              </a:rPr>
              <a:t>PricePerNight</a:t>
            </a:r>
            <a:r>
              <a:rPr lang="en-US" sz="2400" b="1" dirty="0">
                <a:solidFill>
                  <a:srgbClr val="595959"/>
                </a:solidFill>
              </a:rPr>
              <a:t> is less than or equal to the maximum</a:t>
            </a:r>
          </a:p>
          <a:p>
            <a:pPr marL="342900" indent="-342900" algn="ctr"/>
            <a:r>
              <a:rPr lang="en-US" sz="2400" b="1" dirty="0">
                <a:solidFill>
                  <a:srgbClr val="595959"/>
                </a:solidFill>
              </a:rPr>
              <a:t>Returns the Index view with the variable passed through</a:t>
            </a:r>
          </a:p>
        </p:txBody>
      </p:sp>
      <p:pic>
        <p:nvPicPr>
          <p:cNvPr id="5" name="Content Placeholder 3" descr="A screen shot of a computer&#10;&#10;Description automatically generated">
            <a:extLst>
              <a:ext uri="{FF2B5EF4-FFF2-40B4-BE49-F238E27FC236}">
                <a16:creationId xmlns:a16="http://schemas.microsoft.com/office/drawing/2014/main" id="{811EB4B7-DEEB-4228-A90B-E2B363107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8916"/>
            <a:ext cx="10515600" cy="11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01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E8AE1-6B4A-E391-09C1-D0DA9515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80" y="1885918"/>
            <a:ext cx="9770501" cy="308935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4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Task </a:t>
            </a:r>
            <a:b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 a filter for every column in your model</a:t>
            </a:r>
            <a:endParaRPr lang="en-US" sz="54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2348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2134B-0415-A332-7659-9A2B2AB4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267" y="2460543"/>
            <a:ext cx="7596927" cy="193386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Next Lesson: Booking </a:t>
            </a:r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Hotel Room</a:t>
            </a:r>
            <a:endParaRPr lang="en-US" sz="60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7117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481</Words>
  <Application>Microsoft Office PowerPoint</Application>
  <PresentationFormat>Widescreen</PresentationFormat>
  <Paragraphs>64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Calibri Light</vt:lpstr>
      <vt:lpstr>office theme</vt:lpstr>
      <vt:lpstr>office theme</vt:lpstr>
      <vt:lpstr>Hotel Management System</vt:lpstr>
      <vt:lpstr>Starter   Explain the connection between Models, Views and Controllers</vt:lpstr>
      <vt:lpstr>Create a new Project called Sandwell Hotels</vt:lpstr>
      <vt:lpstr>Make sure to select .NET 8.0 and Individual Accounts</vt:lpstr>
      <vt:lpstr>Install the 3 Packages from the NPM</vt:lpstr>
      <vt:lpstr>Create a new model for a Hotel Room</vt:lpstr>
      <vt:lpstr>Scaffold a Controller and views based off this model</vt:lpstr>
      <vt:lpstr>Should now have the following structure</vt:lpstr>
      <vt:lpstr>Add-Migration and Update-Database</vt:lpstr>
      <vt:lpstr>Now let's add some hotel rooms to our database</vt:lpstr>
      <vt:lpstr>Create the following 3 Hotel Rooms</vt:lpstr>
      <vt:lpstr>Should now have the following data</vt:lpstr>
      <vt:lpstr>Methods we are going to add to the controller</vt:lpstr>
      <vt:lpstr>Filter By Bedrooms Form</vt:lpstr>
      <vt:lpstr>FilterByBedrooms Endpoint in the Controller</vt:lpstr>
      <vt:lpstr>Test it Out</vt:lpstr>
      <vt:lpstr>What is the problem?</vt:lpstr>
      <vt:lpstr>Form to See all Rooms</vt:lpstr>
      <vt:lpstr>Only Display Available Rooms</vt:lpstr>
      <vt:lpstr>Form to Access the Method</vt:lpstr>
      <vt:lpstr>AvailableRooms Endpoint Method</vt:lpstr>
      <vt:lpstr>Test it Out</vt:lpstr>
      <vt:lpstr>Task   Find all rooms in a specific location</vt:lpstr>
      <vt:lpstr>Sorting the rooms by a factor of your choice</vt:lpstr>
      <vt:lpstr>Add two buttons to allow to sort</vt:lpstr>
      <vt:lpstr>SortByGuestRating Endpoint Method</vt:lpstr>
      <vt:lpstr>Filter by a Minimum and Maximum Price</vt:lpstr>
      <vt:lpstr>Filter By Price Form</vt:lpstr>
      <vt:lpstr>Filter By Price Endpoint Method</vt:lpstr>
      <vt:lpstr>Task   Add a filter for every column in your model</vt:lpstr>
      <vt:lpstr>Next Lesson: Booking a Hotel Room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System</dc:title>
  <dc:creator>Muhammed Miah</dc:creator>
  <cp:lastModifiedBy>Muhammed Miah</cp:lastModifiedBy>
  <cp:revision>385</cp:revision>
  <dcterms:created xsi:type="dcterms:W3CDTF">2024-11-09T16:55:35Z</dcterms:created>
  <dcterms:modified xsi:type="dcterms:W3CDTF">2024-11-13T09:07:16Z</dcterms:modified>
</cp:coreProperties>
</file>